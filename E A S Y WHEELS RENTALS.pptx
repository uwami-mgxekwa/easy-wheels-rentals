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7" d="100"/>
          <a:sy n="87" d="100"/>
        </p:scale>
        <p:origin x="-272" y="-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40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5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96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5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786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95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731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030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53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092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95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26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#deployment-options"/><Relationship Id="rId3" Type="http://schemas.openxmlformats.org/officeDocument/2006/relationships/hyperlink" Target="#system-versions"/><Relationship Id="rId7" Type="http://schemas.openxmlformats.org/officeDocument/2006/relationships/hyperlink" Target="#user-interface"/><Relationship Id="rId2" Type="http://schemas.openxmlformats.org/officeDocument/2006/relationships/hyperlink" Target="#project-summary"/><Relationship Id="rId1" Type="http://schemas.openxmlformats.org/officeDocument/2006/relationships/slideLayout" Target="../slideLayouts/slideLayout2.xml"/><Relationship Id="rId6" Type="http://schemas.openxmlformats.org/officeDocument/2006/relationships/hyperlink" Target="#database-schema"/><Relationship Id="rId11" Type="http://schemas.openxmlformats.org/officeDocument/2006/relationships/hyperlink" Target="#project-files"/><Relationship Id="rId5" Type="http://schemas.openxmlformats.org/officeDocument/2006/relationships/hyperlink" Target="#technical-architecture"/><Relationship Id="rId10" Type="http://schemas.openxmlformats.org/officeDocument/2006/relationships/hyperlink" Target="#future-enhancements"/><Relationship Id="rId4" Type="http://schemas.openxmlformats.org/officeDocument/2006/relationships/hyperlink" Target="#features--capabilities"/><Relationship Id="rId9" Type="http://schemas.openxmlformats.org/officeDocument/2006/relationships/hyperlink" Target="#usage-guide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sarah.vdm@email.com" TargetMode="External"/><Relationship Id="rId2" Type="http://schemas.openxmlformats.org/officeDocument/2006/relationships/hyperlink" Target="mailto:thabo.mbeki@email.com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EE7844-C800-E67C-6364-8FEC22F0D1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6472" b="9260"/>
          <a:stretch>
            <a:fillRect/>
          </a:stretch>
        </p:blipFill>
        <p:spPr>
          <a:xfrm>
            <a:off x="20" y="1779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F0A836-2248-D90F-EF08-3FACD49EB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en-ZA" sz="6000" dirty="0">
                <a:solidFill>
                  <a:srgbClr val="FFFFFF"/>
                </a:solidFill>
              </a:rPr>
              <a:t>E A S Y WHEELS RENTALS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C0618-F965-D3E6-589D-0FFFE7FEE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endParaRPr lang="en-ZA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143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0F6BF-F61B-FBBB-0CDF-48D2F2BB2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🚘 </a:t>
            </a:r>
            <a:r>
              <a:rPr lang="en-ZA" dirty="0" err="1"/>
              <a:t>EasyWheels</a:t>
            </a:r>
            <a:r>
              <a:rPr lang="en-ZA" dirty="0"/>
              <a:t> Rentals </a:t>
            </a:r>
            <a:br>
              <a:rPr lang="en-ZA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EE04F-EC4C-FB48-8DEC-B153476F9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408736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ZA" sz="1400" dirty="0"/>
          </a:p>
          <a:p>
            <a:r>
              <a:rPr lang="en-ZA" sz="1400" b="1" dirty="0">
                <a:latin typeface="Arial" panose="020B0604020202020204" pitchFamily="34" charset="0"/>
                <a:cs typeface="Arial" panose="020B0604020202020204" pitchFamily="34" charset="0"/>
              </a:rPr>
              <a:t>📋 Table of Contents</a:t>
            </a:r>
          </a:p>
          <a:p>
            <a:r>
              <a:rPr lang="en-ZA" sz="1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Project Summary</a:t>
            </a:r>
            <a:endParaRPr lang="en-Z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1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System Versions</a:t>
            </a:r>
            <a:endParaRPr lang="en-Z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1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Features &amp; Capabilities</a:t>
            </a:r>
            <a:endParaRPr lang="en-Z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14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Technical Architecture</a:t>
            </a:r>
            <a:endParaRPr lang="en-Z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14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Database Schema</a:t>
            </a:r>
            <a:endParaRPr lang="en-Z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14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User Interface</a:t>
            </a:r>
            <a:endParaRPr lang="en-Z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1400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Deployment Options</a:t>
            </a:r>
            <a:endParaRPr lang="en-Z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14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Usage Guide</a:t>
            </a:r>
            <a:endParaRPr lang="en-Z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1400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Future Enhancements</a:t>
            </a:r>
            <a:endParaRPr lang="en-Z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1400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Project Files</a:t>
            </a:r>
            <a:endParaRPr lang="en-Z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ZA" sz="1400" dirty="0"/>
          </a:p>
        </p:txBody>
      </p:sp>
    </p:spTree>
    <p:extLst>
      <p:ext uri="{BB962C8B-B14F-4D97-AF65-F5344CB8AC3E}">
        <p14:creationId xmlns:p14="http://schemas.microsoft.com/office/powerpoint/2010/main" val="3695176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F46B8-3CCA-85F4-C821-2E5ADF5B2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🎯 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142DB-573B-B3D2-875B-70E6ABB0F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ZA" sz="1800" b="1" dirty="0"/>
              <a:t>Project Name:</a:t>
            </a:r>
            <a:r>
              <a:rPr lang="en-ZA" sz="1800" dirty="0"/>
              <a:t> Premium Vehicle Rental System</a:t>
            </a:r>
            <a:br>
              <a:rPr lang="en-ZA" sz="1800" dirty="0"/>
            </a:br>
            <a:r>
              <a:rPr lang="en-ZA" sz="1800" b="1" dirty="0"/>
              <a:t>Purpose:</a:t>
            </a:r>
            <a:r>
              <a:rPr lang="en-ZA" sz="1800" dirty="0"/>
              <a:t> Complete vehicle rental management system for South African market</a:t>
            </a:r>
            <a:br>
              <a:rPr lang="en-ZA" sz="1800" dirty="0"/>
            </a:br>
            <a:r>
              <a:rPr lang="en-ZA" sz="1800" b="1" dirty="0"/>
              <a:t>Target Users:</a:t>
            </a:r>
            <a:r>
              <a:rPr lang="en-ZA" sz="1800" dirty="0"/>
              <a:t> Rental companies, fleet managers, customers</a:t>
            </a:r>
            <a:br>
              <a:rPr lang="en-ZA" sz="1800" dirty="0"/>
            </a:br>
            <a:r>
              <a:rPr lang="en-ZA" sz="1800" b="1" dirty="0"/>
              <a:t>Platforms:</a:t>
            </a:r>
            <a:r>
              <a:rPr lang="en-ZA" sz="1800" dirty="0"/>
              <a:t> Desktop Application (Java Swing) + Web Application (HTML/JS)</a:t>
            </a:r>
            <a:br>
              <a:rPr lang="en-ZA" sz="1800" dirty="0"/>
            </a:br>
            <a:r>
              <a:rPr lang="en-ZA" sz="1800" b="1" dirty="0"/>
              <a:t>Region:</a:t>
            </a:r>
            <a:r>
              <a:rPr lang="en-ZA" sz="1800" dirty="0"/>
              <a:t> South Africa (Rands currency, SA provinces)</a:t>
            </a:r>
          </a:p>
          <a:p>
            <a:r>
              <a:rPr lang="en-ZA" sz="1800" b="1" dirty="0"/>
              <a:t>Key Objectives:</a:t>
            </a:r>
          </a:p>
          <a:p>
            <a:r>
              <a:rPr lang="en-ZA" sz="1800" dirty="0"/>
              <a:t>✅ Streamline vehicle rental operations</a:t>
            </a:r>
            <a:br>
              <a:rPr lang="en-ZA" sz="1800" dirty="0"/>
            </a:br>
            <a:r>
              <a:rPr lang="en-ZA" sz="1800" dirty="0"/>
              <a:t>✅ Manage fleet inventory efficiently</a:t>
            </a:r>
            <a:br>
              <a:rPr lang="en-ZA" sz="1800" dirty="0"/>
            </a:br>
            <a:r>
              <a:rPr lang="en-ZA" sz="1800" dirty="0"/>
              <a:t>✅ Track customer bookings and history</a:t>
            </a:r>
            <a:br>
              <a:rPr lang="en-ZA" sz="1800" dirty="0"/>
            </a:br>
            <a:r>
              <a:rPr lang="en-ZA" sz="1800" dirty="0"/>
              <a:t>✅ Generate professional receipts</a:t>
            </a:r>
            <a:br>
              <a:rPr lang="en-ZA" sz="1800" dirty="0"/>
            </a:br>
            <a:r>
              <a:rPr lang="en-ZA" sz="1800" dirty="0"/>
              <a:t>✅ Provide analytics and insights</a:t>
            </a:r>
            <a:br>
              <a:rPr lang="en-ZA" sz="1800" dirty="0"/>
            </a:br>
            <a:r>
              <a:rPr lang="en-ZA" sz="1800" dirty="0"/>
              <a:t>✅ Enable QR code quick booking</a:t>
            </a:r>
            <a:br>
              <a:rPr lang="en-ZA" sz="1800" dirty="0"/>
            </a:br>
            <a:r>
              <a:rPr lang="en-ZA" sz="1800" dirty="0"/>
              <a:t>✅ Support multiple locations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8020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2577-64A5-FDE7-CF7F-F26773962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51" y="1371601"/>
            <a:ext cx="11029358" cy="501649"/>
          </a:xfrm>
        </p:spPr>
        <p:txBody>
          <a:bodyPr>
            <a:normAutofit/>
          </a:bodyPr>
          <a:lstStyle/>
          <a:p>
            <a:r>
              <a:rPr lang="en-ZA" sz="2400" dirty="0"/>
              <a:t>🔄 System Versions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B743A-9242-278E-4946-F2AFECBCD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4224528"/>
          </a:xfrm>
        </p:spPr>
        <p:txBody>
          <a:bodyPr>
            <a:normAutofit fontScale="25000" lnSpcReduction="20000"/>
          </a:bodyPr>
          <a:lstStyle/>
          <a:p>
            <a:r>
              <a:rPr lang="en-ZA" sz="4000" b="1" dirty="0"/>
              <a:t>Version 1: Basic Java Swing Application</a:t>
            </a:r>
          </a:p>
          <a:p>
            <a:r>
              <a:rPr lang="en-ZA" sz="4000" b="1" dirty="0"/>
              <a:t>Features:</a:t>
            </a:r>
            <a:endParaRPr lang="en-ZA" sz="4000" dirty="0"/>
          </a:p>
          <a:p>
            <a:r>
              <a:rPr lang="en-ZA" sz="4000" dirty="0"/>
              <a:t>Car listings with basic details</a:t>
            </a:r>
          </a:p>
          <a:p>
            <a:r>
              <a:rPr lang="en-ZA" sz="4000" dirty="0"/>
              <a:t>Rental history tracking</a:t>
            </a:r>
          </a:p>
          <a:p>
            <a:r>
              <a:rPr lang="en-ZA" sz="4000" dirty="0"/>
              <a:t>Simple booking system</a:t>
            </a:r>
          </a:p>
          <a:p>
            <a:r>
              <a:rPr lang="en-ZA" sz="4000" dirty="0"/>
              <a:t>Availability management</a:t>
            </a:r>
          </a:p>
          <a:p>
            <a:r>
              <a:rPr lang="en-ZA" sz="4000" b="1" dirty="0"/>
              <a:t>Version 2: Modern Java Swing with Database</a:t>
            </a:r>
          </a:p>
          <a:p>
            <a:r>
              <a:rPr lang="en-ZA" sz="4000" b="1" dirty="0"/>
              <a:t>Enhancements:</a:t>
            </a:r>
            <a:endParaRPr lang="en-ZA" sz="4000" dirty="0"/>
          </a:p>
          <a:p>
            <a:r>
              <a:rPr lang="en-ZA" sz="4000" dirty="0"/>
              <a:t>SQLite database integration</a:t>
            </a:r>
          </a:p>
          <a:p>
            <a:r>
              <a:rPr lang="en-ZA" sz="4000" dirty="0"/>
              <a:t>Professional UI with modern design</a:t>
            </a:r>
          </a:p>
          <a:p>
            <a:r>
              <a:rPr lang="en-ZA" sz="4000" dirty="0"/>
              <a:t>20+ vehicle fleet</a:t>
            </a:r>
          </a:p>
          <a:p>
            <a:r>
              <a:rPr lang="en-ZA" sz="4000" dirty="0"/>
              <a:t>Customer management system</a:t>
            </a:r>
          </a:p>
          <a:p>
            <a:r>
              <a:rPr lang="en-ZA" sz="4000" dirty="0"/>
              <a:t>Real-time analytics dashboard</a:t>
            </a:r>
          </a:p>
          <a:p>
            <a:r>
              <a:rPr lang="en-ZA" sz="4000" dirty="0"/>
              <a:t>Receipt generation</a:t>
            </a:r>
          </a:p>
          <a:p>
            <a:r>
              <a:rPr lang="en-ZA" sz="4000" dirty="0"/>
              <a:t>Search and filter functionality</a:t>
            </a:r>
          </a:p>
          <a:p>
            <a:r>
              <a:rPr lang="en-ZA" sz="4000" dirty="0"/>
              <a:t>South African localization (Rands, provinces)</a:t>
            </a:r>
          </a:p>
          <a:p>
            <a:r>
              <a:rPr lang="en-ZA" sz="4000" b="1" dirty="0"/>
              <a:t>Technical Specs:</a:t>
            </a:r>
            <a:endParaRPr lang="en-ZA" sz="4000" dirty="0"/>
          </a:p>
          <a:p>
            <a:r>
              <a:rPr lang="en-ZA" sz="4000" dirty="0"/>
              <a:t>Language: Java (JDK 8+)</a:t>
            </a:r>
          </a:p>
          <a:p>
            <a:r>
              <a:rPr lang="en-ZA" sz="4000" dirty="0"/>
              <a:t>Framework: Swing GUI</a:t>
            </a:r>
          </a:p>
          <a:p>
            <a:r>
              <a:rPr lang="en-ZA" sz="4000" dirty="0"/>
              <a:t>Database: SQLite (embedded)</a:t>
            </a:r>
          </a:p>
          <a:p>
            <a:r>
              <a:rPr lang="en-ZA" sz="4000" dirty="0"/>
              <a:t>JDBC Driver: sqlite-jdbc-3.46.1.0.jar</a:t>
            </a:r>
          </a:p>
          <a:p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0D37D-043E-FE41-6D2A-E81F49256E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ZA" sz="4000" dirty="0"/>
              <a:t>Architecture: MVC pattern</a:t>
            </a:r>
          </a:p>
          <a:p>
            <a:r>
              <a:rPr lang="en-ZA" sz="4000" b="1" dirty="0"/>
              <a:t>Version 3: Web Application</a:t>
            </a:r>
          </a:p>
          <a:p>
            <a:r>
              <a:rPr lang="en-ZA" sz="4000" b="1" dirty="0"/>
              <a:t>Enhancements:</a:t>
            </a:r>
            <a:endParaRPr lang="en-ZA" sz="4000" dirty="0"/>
          </a:p>
          <a:p>
            <a:r>
              <a:rPr lang="en-ZA" sz="4000" dirty="0"/>
              <a:t>Modern responsive web interface</a:t>
            </a:r>
          </a:p>
          <a:p>
            <a:r>
              <a:rPr lang="en-ZA" sz="4000" dirty="0"/>
              <a:t>No installation required</a:t>
            </a:r>
          </a:p>
          <a:p>
            <a:r>
              <a:rPr lang="en-ZA" sz="4000" dirty="0"/>
              <a:t>Mobile-friendly design</a:t>
            </a:r>
          </a:p>
          <a:p>
            <a:r>
              <a:rPr lang="en-ZA" sz="4000" b="1" dirty="0"/>
              <a:t>QR code generation and scanning</a:t>
            </a:r>
            <a:endParaRPr lang="en-ZA" sz="4000" dirty="0"/>
          </a:p>
          <a:p>
            <a:r>
              <a:rPr lang="en-ZA" sz="4000" dirty="0"/>
              <a:t>Cloud deployment ready</a:t>
            </a:r>
          </a:p>
          <a:p>
            <a:r>
              <a:rPr lang="en-ZA" sz="4000" dirty="0"/>
              <a:t>Progressive Web App capable</a:t>
            </a:r>
          </a:p>
          <a:p>
            <a:r>
              <a:rPr lang="en-ZA" sz="4000" dirty="0"/>
              <a:t>Real-time cost calculator</a:t>
            </a:r>
          </a:p>
          <a:p>
            <a:r>
              <a:rPr lang="en-ZA" sz="4000" dirty="0"/>
              <a:t>Interactive booking system</a:t>
            </a:r>
          </a:p>
          <a:p>
            <a:r>
              <a:rPr lang="en-ZA" sz="4000" b="1" dirty="0"/>
              <a:t>Technical Specs:</a:t>
            </a:r>
            <a:endParaRPr lang="en-ZA" sz="4000" dirty="0"/>
          </a:p>
          <a:p>
            <a:r>
              <a:rPr lang="en-ZA" sz="4000" dirty="0"/>
              <a:t>HTML5, CSS3, JavaScript</a:t>
            </a:r>
          </a:p>
          <a:p>
            <a:r>
              <a:rPr lang="en-ZA" sz="4000" dirty="0" err="1"/>
              <a:t>QRious</a:t>
            </a:r>
            <a:r>
              <a:rPr lang="en-ZA" sz="4000" dirty="0"/>
              <a:t> library for QR codes</a:t>
            </a:r>
          </a:p>
          <a:p>
            <a:r>
              <a:rPr lang="en-ZA" sz="4000" dirty="0"/>
              <a:t>Client-side storage (</a:t>
            </a:r>
            <a:r>
              <a:rPr lang="en-ZA" sz="4000" dirty="0" err="1"/>
              <a:t>localStorage</a:t>
            </a:r>
            <a:r>
              <a:rPr lang="en-ZA" sz="4000" dirty="0"/>
              <a:t>)</a:t>
            </a:r>
          </a:p>
          <a:p>
            <a:r>
              <a:rPr lang="en-ZA" sz="4000" dirty="0"/>
              <a:t>Responsive grid layouts</a:t>
            </a:r>
          </a:p>
          <a:p>
            <a:r>
              <a:rPr lang="en-ZA" sz="4000" dirty="0"/>
              <a:t>Modern ES6+ JavaScript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68514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4351A80-A168-AA18-3333-6BDE141D1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1" y="1371601"/>
            <a:ext cx="10972208" cy="400049"/>
          </a:xfrm>
        </p:spPr>
        <p:txBody>
          <a:bodyPr>
            <a:normAutofit fontScale="90000"/>
          </a:bodyPr>
          <a:lstStyle/>
          <a:p>
            <a:r>
              <a:rPr lang="en-ZA" sz="2400" dirty="0"/>
              <a:t>🎨 Features &amp; Capabilities</a:t>
            </a:r>
            <a:br>
              <a:rPr lang="en-ZA" sz="2400" dirty="0"/>
            </a:br>
            <a:endParaRPr lang="en-ZA" sz="24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63A95D-BAF1-EBE7-4004-4817433C6E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ZA" sz="3600" b="1" dirty="0"/>
              <a:t>🚗 Vehicle Management</a:t>
            </a:r>
          </a:p>
          <a:p>
            <a:r>
              <a:rPr lang="en-ZA" sz="3600" b="1" dirty="0"/>
              <a:t>Inventory:</a:t>
            </a:r>
            <a:endParaRPr lang="en-ZA" sz="3600" dirty="0"/>
          </a:p>
          <a:p>
            <a:r>
              <a:rPr lang="en-ZA" sz="3600" dirty="0"/>
              <a:t>20 vehicles across multiple categories</a:t>
            </a:r>
          </a:p>
          <a:p>
            <a:r>
              <a:rPr lang="en-ZA" sz="3600" dirty="0"/>
              <a:t>Types: Sedan, SUV, Hatchback, Bakkie (pickup), Luxury</a:t>
            </a:r>
          </a:p>
          <a:p>
            <a:r>
              <a:rPr lang="en-ZA" sz="3600" dirty="0"/>
              <a:t>Details: Model, year, transmission, seats, fuel type, mileage</a:t>
            </a:r>
          </a:p>
          <a:p>
            <a:r>
              <a:rPr lang="en-ZA" sz="3600" dirty="0"/>
              <a:t>Location: 9 South African provinces</a:t>
            </a:r>
          </a:p>
          <a:p>
            <a:r>
              <a:rPr lang="en-ZA" sz="3600" dirty="0"/>
              <a:t>Real-time availability tracking</a:t>
            </a:r>
          </a:p>
          <a:p>
            <a:r>
              <a:rPr lang="en-ZA" sz="3600" b="1" dirty="0"/>
              <a:t>Fleet Categories:</a:t>
            </a:r>
            <a:endParaRPr lang="en-ZA" sz="3600" dirty="0"/>
          </a:p>
          <a:p>
            <a:r>
              <a:rPr lang="en-ZA" sz="3600" b="1" dirty="0"/>
              <a:t>Economy</a:t>
            </a:r>
            <a:r>
              <a:rPr lang="en-ZA" sz="3600" dirty="0"/>
              <a:t> (R280-R450/day): Datsun GO, Renault </a:t>
            </a:r>
            <a:r>
              <a:rPr lang="en-ZA" sz="3600" dirty="0" err="1"/>
              <a:t>Kwid</a:t>
            </a:r>
            <a:r>
              <a:rPr lang="en-ZA" sz="3600" dirty="0"/>
              <a:t>, VW Polo Vivo</a:t>
            </a:r>
          </a:p>
          <a:p>
            <a:r>
              <a:rPr lang="en-ZA" sz="3600" b="1" dirty="0"/>
              <a:t>Standard</a:t>
            </a:r>
            <a:r>
              <a:rPr lang="en-ZA" sz="3600" dirty="0"/>
              <a:t> (R350-R700/day): Toyota Corolla, Hyundai Tucson, Mazda CX-5</a:t>
            </a:r>
          </a:p>
          <a:p>
            <a:r>
              <a:rPr lang="en-ZA" sz="3600" b="1" dirty="0"/>
              <a:t>Premium SUV</a:t>
            </a:r>
            <a:r>
              <a:rPr lang="en-ZA" sz="3600" dirty="0"/>
              <a:t> (R780-R950/day): Toyota Fortuner, Honda CR-V, Ford Ranger</a:t>
            </a:r>
          </a:p>
          <a:p>
            <a:r>
              <a:rPr lang="en-ZA" sz="3600" b="1" dirty="0"/>
              <a:t>Luxury</a:t>
            </a:r>
            <a:r>
              <a:rPr lang="en-ZA" sz="3600" dirty="0"/>
              <a:t> (R1150-R1800/day): BMW 3 Series, Mercedes C-Class, Range Rover Evoque</a:t>
            </a:r>
          </a:p>
          <a:p>
            <a:r>
              <a:rPr lang="en-ZA" sz="3600" b="1" dirty="0"/>
              <a:t>Bakkies/Trucks</a:t>
            </a:r>
            <a:r>
              <a:rPr lang="en-ZA" sz="3600" dirty="0"/>
              <a:t> (R400-R1050/day): Nissan NP200, Toyota Hilux, VW Amarok</a:t>
            </a:r>
          </a:p>
          <a:p>
            <a:r>
              <a:rPr lang="en-ZA" sz="3600" b="1" dirty="0"/>
              <a:t>Operations:</a:t>
            </a:r>
            <a:endParaRPr lang="en-ZA" sz="3600" dirty="0"/>
          </a:p>
          <a:p>
            <a:r>
              <a:rPr lang="en-ZA" sz="3600" dirty="0"/>
              <a:t>Add new vehicles</a:t>
            </a:r>
          </a:p>
          <a:p>
            <a:r>
              <a:rPr lang="en-ZA" sz="3600" dirty="0"/>
              <a:t>Update vehicle information</a:t>
            </a:r>
          </a:p>
          <a:p>
            <a:r>
              <a:rPr lang="en-ZA" sz="3600" dirty="0"/>
              <a:t>Toggle availability status</a:t>
            </a:r>
          </a:p>
          <a:p>
            <a:r>
              <a:rPr lang="en-ZA" sz="3600" dirty="0"/>
              <a:t>Track mileage</a:t>
            </a:r>
          </a:p>
          <a:p>
            <a:r>
              <a:rPr lang="en-ZA" sz="3600" dirty="0"/>
              <a:t>View detailed specifications</a:t>
            </a:r>
          </a:p>
          <a:p>
            <a:endParaRPr lang="en-Z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5C98AB9-D295-1000-5826-A038ADB58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75350" y="2633472"/>
            <a:ext cx="5555658" cy="4402328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GB" sz="3600" b="1" dirty="0"/>
              <a:t>👥 Customer Management</a:t>
            </a:r>
          </a:p>
          <a:p>
            <a:pPr>
              <a:buNone/>
            </a:pPr>
            <a:r>
              <a:rPr lang="en-GB" sz="3600" b="1" dirty="0"/>
              <a:t>Customer Database:</a:t>
            </a:r>
            <a:endParaRPr lang="en-GB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3600" dirty="0"/>
              <a:t>Personal information (name, email, phone)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600" dirty="0"/>
              <a:t>Driver's license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600" dirty="0"/>
              <a:t>Rental history per customer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600" dirty="0"/>
              <a:t>Contact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600" dirty="0"/>
              <a:t>Booking count statistics</a:t>
            </a:r>
          </a:p>
          <a:p>
            <a:pPr>
              <a:buNone/>
            </a:pPr>
            <a:r>
              <a:rPr lang="en-GB" sz="3600" b="1" dirty="0"/>
              <a:t>Features:</a:t>
            </a:r>
            <a:endParaRPr lang="en-GB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3600" dirty="0"/>
              <a:t>Add new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600" dirty="0"/>
              <a:t>View customer profiles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600" dirty="0"/>
              <a:t>Track rental frequency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600" dirty="0"/>
              <a:t>Customer contact information</a:t>
            </a:r>
          </a:p>
          <a:p>
            <a:pPr>
              <a:buNone/>
            </a:pPr>
            <a:r>
              <a:rPr lang="en-GB" sz="3600" b="1" dirty="0"/>
              <a:t>📋 Booking System</a:t>
            </a:r>
          </a:p>
          <a:p>
            <a:pPr>
              <a:buNone/>
            </a:pPr>
            <a:r>
              <a:rPr lang="en-GB" sz="3600" b="1" dirty="0"/>
              <a:t>Reservation Process:</a:t>
            </a:r>
            <a:endParaRPr lang="en-GB" sz="3600" dirty="0"/>
          </a:p>
          <a:p>
            <a:pPr>
              <a:buFont typeface="+mj-lt"/>
              <a:buAutoNum type="arabicPeriod"/>
            </a:pPr>
            <a:r>
              <a:rPr lang="en-GB" sz="3600" dirty="0"/>
              <a:t>Customer selection/registration</a:t>
            </a:r>
          </a:p>
          <a:p>
            <a:pPr>
              <a:buFont typeface="+mj-lt"/>
              <a:buAutoNum type="arabicPeriod"/>
            </a:pPr>
            <a:r>
              <a:rPr lang="en-GB" sz="3600" dirty="0"/>
              <a:t>Vehicle selection from available fleet</a:t>
            </a:r>
          </a:p>
          <a:p>
            <a:pPr>
              <a:buFont typeface="+mj-lt"/>
              <a:buAutoNum type="arabicPeriod"/>
            </a:pPr>
            <a:r>
              <a:rPr lang="en-GB" sz="3600" dirty="0"/>
              <a:t>Date range selection (pickup/return)</a:t>
            </a:r>
          </a:p>
          <a:p>
            <a:pPr>
              <a:buFont typeface="+mj-lt"/>
              <a:buAutoNum type="arabicPeriod"/>
            </a:pPr>
            <a:r>
              <a:rPr lang="en-GB" sz="3600" dirty="0"/>
              <a:t>Location selection (pickup/</a:t>
            </a:r>
            <a:r>
              <a:rPr lang="en-GB" sz="3600" dirty="0" err="1"/>
              <a:t>dropoff</a:t>
            </a:r>
            <a:r>
              <a:rPr lang="en-GB" sz="3600" dirty="0"/>
              <a:t>)</a:t>
            </a:r>
          </a:p>
          <a:p>
            <a:pPr>
              <a:buFont typeface="+mj-lt"/>
              <a:buAutoNum type="arabicPeriod"/>
            </a:pPr>
            <a:r>
              <a:rPr lang="en-GB" sz="3600" dirty="0"/>
              <a:t>Add-ons: Insurance (R150/day), GPS (R100/day)</a:t>
            </a:r>
          </a:p>
          <a:p>
            <a:pPr>
              <a:buFont typeface="+mj-lt"/>
              <a:buAutoNum type="arabicPeriod"/>
            </a:pPr>
            <a:r>
              <a:rPr lang="en-GB" sz="3600" dirty="0"/>
              <a:t>Real-time cost calculation</a:t>
            </a:r>
          </a:p>
          <a:p>
            <a:pPr>
              <a:buFont typeface="+mj-lt"/>
              <a:buAutoNum type="arabicPeriod"/>
            </a:pPr>
            <a:r>
              <a:rPr lang="en-GB" sz="3600" dirty="0"/>
              <a:t>Booking confirmation</a:t>
            </a:r>
          </a:p>
          <a:p>
            <a:pPr>
              <a:buFont typeface="+mj-lt"/>
              <a:buAutoNum type="arabicPeriod"/>
            </a:pPr>
            <a:r>
              <a:rPr lang="en-GB" sz="3600" dirty="0"/>
              <a:t>Receipt generation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88003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A30B-861B-AE68-B766-11F14299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1371601"/>
            <a:ext cx="10965858" cy="444499"/>
          </a:xfrm>
        </p:spPr>
        <p:txBody>
          <a:bodyPr>
            <a:normAutofit fontScale="90000"/>
          </a:bodyPr>
          <a:lstStyle/>
          <a:p>
            <a:r>
              <a:rPr lang="en-GB" sz="2400" dirty="0"/>
              <a:t>Booking Features:</a:t>
            </a:r>
            <a:br>
              <a:rPr lang="en-GB" sz="2400" dirty="0"/>
            </a:br>
            <a:endParaRPr lang="en-ZA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20D9F-69D0-E2C0-3059-01711BA0DC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Date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Availability checking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Multi-location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Cost breakdown display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Instant confirmation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Professional receipts</a:t>
            </a:r>
          </a:p>
          <a:p>
            <a:pPr>
              <a:buNone/>
            </a:pPr>
            <a:r>
              <a:rPr lang="en-GB" sz="4000" b="1" dirty="0"/>
              <a:t>💰 Pricing &amp; Payments</a:t>
            </a:r>
          </a:p>
          <a:p>
            <a:pPr>
              <a:buNone/>
            </a:pPr>
            <a:r>
              <a:rPr lang="en-GB" sz="4000" b="1" dirty="0"/>
              <a:t>Rate Structure:</a:t>
            </a:r>
            <a:endParaRPr lang="en-GB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Daily rental rates: R280 - R1800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Insurance add-on: R150/day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GPS navigation: R100/day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Location-based pricing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Multi-day discounts (can be implemented)</a:t>
            </a:r>
          </a:p>
          <a:p>
            <a:endParaRPr lang="en-ZA" sz="105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85A45-CC01-0EAD-B56D-74910B4AB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633472"/>
            <a:ext cx="5435008" cy="4402328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GB" sz="4000" b="1" dirty="0"/>
              <a:t>Cost Calculator:</a:t>
            </a:r>
            <a:endParaRPr lang="en-GB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Base rate × number of days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Add-on costs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Total calculation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Real-time updates</a:t>
            </a:r>
          </a:p>
          <a:p>
            <a:pPr>
              <a:buNone/>
            </a:pPr>
            <a:r>
              <a:rPr lang="en-GB" sz="4000" b="1" dirty="0"/>
              <a:t>📊 Analytics Dashboard</a:t>
            </a:r>
          </a:p>
          <a:p>
            <a:pPr>
              <a:buNone/>
            </a:pPr>
            <a:r>
              <a:rPr lang="en-GB" sz="4000" b="1" dirty="0"/>
              <a:t>Key Metrics:</a:t>
            </a:r>
            <a:endParaRPr lang="en-GB" sz="4000" dirty="0"/>
          </a:p>
          <a:p>
            <a:pPr>
              <a:buFont typeface="+mj-lt"/>
              <a:buAutoNum type="arabicPeriod"/>
            </a:pPr>
            <a:r>
              <a:rPr lang="en-GB" sz="4000" b="1" dirty="0"/>
              <a:t>Total Vehicles</a:t>
            </a:r>
            <a:r>
              <a:rPr lang="en-GB" sz="4000" dirty="0"/>
              <a:t>: Complete fleet count</a:t>
            </a:r>
          </a:p>
          <a:p>
            <a:pPr>
              <a:buFont typeface="+mj-lt"/>
              <a:buAutoNum type="arabicPeriod"/>
            </a:pPr>
            <a:r>
              <a:rPr lang="en-GB" sz="4000" b="1" dirty="0"/>
              <a:t>Available Vehicles</a:t>
            </a:r>
            <a:r>
              <a:rPr lang="en-GB" sz="4000" dirty="0"/>
              <a:t>: Ready-to-rent inventory</a:t>
            </a:r>
          </a:p>
          <a:p>
            <a:pPr>
              <a:buFont typeface="+mj-lt"/>
              <a:buAutoNum type="arabicPeriod"/>
            </a:pPr>
            <a:r>
              <a:rPr lang="en-GB" sz="4000" b="1" dirty="0"/>
              <a:t>Active Rentals</a:t>
            </a:r>
            <a:r>
              <a:rPr lang="en-GB" sz="4000" dirty="0"/>
              <a:t>: Current bookings</a:t>
            </a:r>
          </a:p>
          <a:p>
            <a:pPr>
              <a:buFont typeface="+mj-lt"/>
              <a:buAutoNum type="arabicPeriod"/>
            </a:pPr>
            <a:r>
              <a:rPr lang="en-GB" sz="4000" b="1" dirty="0"/>
              <a:t>Total Revenue</a:t>
            </a:r>
            <a:r>
              <a:rPr lang="en-GB" sz="4000" dirty="0"/>
              <a:t>: Cumulative earnings</a:t>
            </a:r>
          </a:p>
          <a:p>
            <a:pPr>
              <a:buNone/>
            </a:pPr>
            <a:r>
              <a:rPr lang="en-GB" sz="4000" b="1" dirty="0"/>
              <a:t>Visual Display:</a:t>
            </a:r>
            <a:endParaRPr lang="en-GB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Color-coded stat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Large, readable numbers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Icon-based indicators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000" dirty="0"/>
              <a:t>Gradient backgrounds</a:t>
            </a:r>
          </a:p>
          <a:p>
            <a:endParaRPr lang="en-ZA" sz="1050" dirty="0"/>
          </a:p>
        </p:txBody>
      </p:sp>
    </p:spTree>
    <p:extLst>
      <p:ext uri="{BB962C8B-B14F-4D97-AF65-F5344CB8AC3E}">
        <p14:creationId xmlns:p14="http://schemas.microsoft.com/office/powerpoint/2010/main" val="652784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C1A57-44D9-D3D8-9735-53B4C814C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10890928" cy="514349"/>
          </a:xfrm>
        </p:spPr>
        <p:txBody>
          <a:bodyPr>
            <a:normAutofit fontScale="90000"/>
          </a:bodyPr>
          <a:lstStyle/>
          <a:p>
            <a:r>
              <a:rPr lang="en-ZA" sz="2400" dirty="0"/>
              <a:t>📱 QR Code Integration</a:t>
            </a:r>
            <a:br>
              <a:rPr lang="en-ZA" sz="2400" dirty="0"/>
            </a:br>
            <a:endParaRPr lang="en-ZA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9EEC7-3837-CEC2-E47F-8DD013B1FC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ZA" sz="2200" b="1" dirty="0"/>
              <a:t>QR Functionality:</a:t>
            </a:r>
            <a:endParaRPr lang="en-ZA" sz="2200" dirty="0"/>
          </a:p>
          <a:p>
            <a:pPr>
              <a:buFont typeface="+mj-lt"/>
              <a:buAutoNum type="arabicPeriod"/>
            </a:pPr>
            <a:r>
              <a:rPr lang="en-ZA" sz="2200" b="1" dirty="0"/>
              <a:t>Auto-Generated QR</a:t>
            </a:r>
            <a:r>
              <a:rPr lang="en-ZA" sz="2200" dirty="0"/>
              <a:t>: Website URL encoded</a:t>
            </a:r>
          </a:p>
          <a:p>
            <a:pPr>
              <a:buFont typeface="+mj-lt"/>
              <a:buAutoNum type="arabicPeriod"/>
            </a:pPr>
            <a:r>
              <a:rPr lang="en-ZA" sz="2200" b="1" dirty="0"/>
              <a:t>Custom QR Generator</a:t>
            </a:r>
            <a:r>
              <a:rPr lang="en-ZA" sz="2200" dirty="0"/>
              <a:t>: Create codes for: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ZA" sz="2200" dirty="0"/>
              <a:t>Specific vehicles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ZA" sz="2200" dirty="0"/>
              <a:t>Booking URLs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ZA" sz="2200" dirty="0"/>
              <a:t>Promotional links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ZA" sz="2200" dirty="0"/>
              <a:t>Contact information</a:t>
            </a:r>
          </a:p>
          <a:p>
            <a:pPr>
              <a:buNone/>
            </a:pPr>
            <a:r>
              <a:rPr lang="en-ZA" sz="2200" b="1" dirty="0"/>
              <a:t>Use Cases:</a:t>
            </a:r>
            <a:endParaRPr lang="en-ZA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ZA" sz="2200" dirty="0"/>
              <a:t>Marketing materials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2200" dirty="0"/>
              <a:t>Business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2200" dirty="0"/>
              <a:t>Flyers and posters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2200" dirty="0"/>
              <a:t>Social media sharing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2200" dirty="0"/>
              <a:t>Email signatures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2200" dirty="0"/>
              <a:t>Physical signage</a:t>
            </a:r>
          </a:p>
          <a:p>
            <a:endParaRPr lang="en-ZA" sz="1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115FB5-B048-3EE7-E319-82F88F2373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GB" sz="2500" b="1" dirty="0"/>
              <a:t>Features:</a:t>
            </a:r>
            <a:endParaRPr lang="en-GB" sz="25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500" dirty="0"/>
              <a:t>High-quality 250×250px codes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500" dirty="0"/>
              <a:t>Download as PNG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500" dirty="0"/>
              <a:t>Error correction level 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500" dirty="0"/>
              <a:t>Customizable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500" dirty="0"/>
              <a:t>Instant generation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30096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0673-EA7C-3558-1798-DAEAD146F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10890928" cy="514349"/>
          </a:xfrm>
        </p:spPr>
        <p:txBody>
          <a:bodyPr>
            <a:normAutofit fontScale="90000"/>
          </a:bodyPr>
          <a:lstStyle/>
          <a:p>
            <a:r>
              <a:rPr lang="en-ZA" dirty="0"/>
              <a:t>🧾 </a:t>
            </a:r>
            <a:r>
              <a:rPr lang="en-ZA" sz="2700" dirty="0"/>
              <a:t>Receipt System</a:t>
            </a:r>
            <a:br>
              <a:rPr lang="en-ZA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0F138-2EE5-FB4D-5578-BB65F7F48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51960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ZA" sz="1000" b="1" dirty="0"/>
              <a:t>Digital Receipts Include:</a:t>
            </a:r>
            <a:endParaRPr lang="en-ZA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ZA" sz="1000" dirty="0"/>
              <a:t>Rental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000" dirty="0"/>
              <a:t>Transaction 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000" dirty="0"/>
              <a:t>Customer details (name, email, phone, license)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000" dirty="0"/>
              <a:t>Vehicle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000" dirty="0"/>
              <a:t>Rental period (start/end dates)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000" dirty="0"/>
              <a:t>Pickup/</a:t>
            </a:r>
            <a:r>
              <a:rPr lang="en-ZA" sz="1000" dirty="0" err="1"/>
              <a:t>dropoff</a:t>
            </a:r>
            <a:r>
              <a:rPr lang="en-ZA" sz="1000" dirty="0"/>
              <a:t> locations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000" dirty="0"/>
              <a:t>Add-ons (insurance, GPS)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000" dirty="0"/>
              <a:t>Cost breakdown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000" dirty="0"/>
              <a:t>Total amount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000" dirty="0"/>
              <a:t>Payment status</a:t>
            </a:r>
          </a:p>
          <a:p>
            <a:pPr>
              <a:buNone/>
            </a:pPr>
            <a:r>
              <a:rPr lang="en-ZA" sz="1000" b="1" dirty="0"/>
              <a:t>Receipt Features:</a:t>
            </a:r>
            <a:endParaRPr lang="en-ZA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ZA" sz="1000" dirty="0"/>
              <a:t>Professional formatting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000" dirty="0"/>
              <a:t>ASCII art borders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000" dirty="0"/>
              <a:t>Print-friendly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000" dirty="0"/>
              <a:t>Modal popup display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000" dirty="0"/>
              <a:t>Copy-paste friendly</a:t>
            </a:r>
          </a:p>
          <a:p>
            <a:endParaRPr lang="en-ZA" sz="1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A1A12-14F9-4178-99AB-04BA8C11DD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ZA" sz="1050" b="1" dirty="0"/>
              <a:t>🔍 Search &amp; Filter</a:t>
            </a:r>
          </a:p>
          <a:p>
            <a:pPr>
              <a:buNone/>
            </a:pPr>
            <a:r>
              <a:rPr lang="en-ZA" sz="1050" b="1" dirty="0"/>
              <a:t>Search Capabilities:</a:t>
            </a:r>
            <a:endParaRPr lang="en-ZA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n-ZA" sz="1050" dirty="0"/>
              <a:t>Search by vehicle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050" dirty="0"/>
              <a:t>Search by vehicle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050" dirty="0"/>
              <a:t>Real-time filtering</a:t>
            </a:r>
          </a:p>
          <a:p>
            <a:pPr>
              <a:buNone/>
            </a:pPr>
            <a:r>
              <a:rPr lang="en-ZA" sz="1050" b="1" dirty="0"/>
              <a:t>Filter Options:</a:t>
            </a:r>
            <a:endParaRPr lang="en-ZA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n-ZA" sz="1050" dirty="0"/>
              <a:t>Vehicle type (Sedan, SUV, Hatchback, Bakkie, Luxury)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050" dirty="0"/>
              <a:t>Location (9 provinces)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050" dirty="0"/>
              <a:t>Availability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050" dirty="0"/>
              <a:t>Combined multi-filter</a:t>
            </a:r>
          </a:p>
          <a:p>
            <a:endParaRPr lang="en-ZA" sz="1100" dirty="0"/>
          </a:p>
        </p:txBody>
      </p:sp>
    </p:spTree>
    <p:extLst>
      <p:ext uri="{BB962C8B-B14F-4D97-AF65-F5344CB8AC3E}">
        <p14:creationId xmlns:p14="http://schemas.microsoft.com/office/powerpoint/2010/main" val="2671951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96006-AA1C-2529-B7B7-A8413EF22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10890928" cy="380999"/>
          </a:xfrm>
        </p:spPr>
        <p:txBody>
          <a:bodyPr>
            <a:normAutofit fontScale="90000"/>
          </a:bodyPr>
          <a:lstStyle/>
          <a:p>
            <a:r>
              <a:rPr lang="en-ZA" sz="2400" dirty="0"/>
              <a:t>🔍 Search &amp; Filter</a:t>
            </a:r>
            <a:br>
              <a:rPr lang="en-ZA" sz="2400" dirty="0"/>
            </a:br>
            <a:endParaRPr lang="en-ZA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C939C-BFE3-DAB0-7F0E-865EF19A63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ZA" sz="4200" b="1" dirty="0"/>
              <a:t>Search Capabilities:</a:t>
            </a:r>
            <a:endParaRPr lang="en-ZA" sz="4200" dirty="0"/>
          </a:p>
          <a:p>
            <a:pPr>
              <a:buFont typeface="Arial" panose="020B0604020202020204" pitchFamily="34" charset="0"/>
              <a:buChar char="•"/>
            </a:pPr>
            <a:r>
              <a:rPr lang="en-ZA" sz="4200" dirty="0"/>
              <a:t>Search by vehicle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4200" dirty="0"/>
              <a:t>Search by vehicle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4200" dirty="0"/>
              <a:t>Real-time filtering</a:t>
            </a:r>
          </a:p>
          <a:p>
            <a:pPr>
              <a:buNone/>
            </a:pPr>
            <a:r>
              <a:rPr lang="en-ZA" sz="4200" b="1" dirty="0"/>
              <a:t>Filter Options:</a:t>
            </a:r>
            <a:endParaRPr lang="en-ZA" sz="4200" dirty="0"/>
          </a:p>
          <a:p>
            <a:pPr>
              <a:buFont typeface="Arial" panose="020B0604020202020204" pitchFamily="34" charset="0"/>
              <a:buChar char="•"/>
            </a:pPr>
            <a:r>
              <a:rPr lang="en-ZA" sz="4200" dirty="0"/>
              <a:t>Vehicle type (Sedan, SUV, Hatchback, Bakkie, Luxury)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4200" dirty="0"/>
              <a:t>Location (9 provinces)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4200" dirty="0"/>
              <a:t>Availability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4200" dirty="0"/>
              <a:t>Combined multi-filter</a:t>
            </a:r>
          </a:p>
          <a:p>
            <a:endParaRPr lang="en-ZA" sz="1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917E9-39E9-9608-ABDC-CA61BB2BB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4478528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ZA" b="1" dirty="0"/>
              <a:t>📍 </a:t>
            </a:r>
            <a:r>
              <a:rPr lang="en-ZA" sz="4000" b="1" dirty="0"/>
              <a:t>Location Management</a:t>
            </a:r>
          </a:p>
          <a:p>
            <a:pPr>
              <a:buNone/>
            </a:pPr>
            <a:r>
              <a:rPr lang="en-ZA" sz="4000" b="1" dirty="0"/>
              <a:t>Supported Provinces:</a:t>
            </a:r>
            <a:endParaRPr lang="en-ZA" sz="4000" dirty="0"/>
          </a:p>
          <a:p>
            <a:pPr>
              <a:buFont typeface="+mj-lt"/>
              <a:buAutoNum type="arabicPeriod"/>
            </a:pPr>
            <a:r>
              <a:rPr lang="en-ZA" sz="4000" dirty="0"/>
              <a:t>Gauteng (Johannesburg/Pretoria) - Major hub</a:t>
            </a:r>
          </a:p>
          <a:p>
            <a:pPr>
              <a:buFont typeface="+mj-lt"/>
              <a:buAutoNum type="arabicPeriod"/>
            </a:pPr>
            <a:r>
              <a:rPr lang="en-ZA" sz="4000" dirty="0"/>
              <a:t>Western Cape (Cape Town) - Tourist destination</a:t>
            </a:r>
          </a:p>
          <a:p>
            <a:pPr>
              <a:buFont typeface="+mj-lt"/>
              <a:buAutoNum type="arabicPeriod"/>
            </a:pPr>
            <a:r>
              <a:rPr lang="en-ZA" sz="4000" dirty="0"/>
              <a:t>KwaZulu-Natal (Durban) - Coastal region</a:t>
            </a:r>
          </a:p>
          <a:p>
            <a:pPr>
              <a:buFont typeface="+mj-lt"/>
              <a:buAutoNum type="arabicPeriod"/>
            </a:pPr>
            <a:r>
              <a:rPr lang="en-ZA" sz="4000" dirty="0"/>
              <a:t>Eastern Cape (Port Elizabeth)</a:t>
            </a:r>
          </a:p>
          <a:p>
            <a:pPr>
              <a:buFont typeface="+mj-lt"/>
              <a:buAutoNum type="arabicPeriod"/>
            </a:pPr>
            <a:r>
              <a:rPr lang="en-ZA" sz="4000" dirty="0"/>
              <a:t>Free State (Bloemfontein)</a:t>
            </a:r>
          </a:p>
          <a:p>
            <a:pPr>
              <a:buFont typeface="+mj-lt"/>
              <a:buAutoNum type="arabicPeriod"/>
            </a:pPr>
            <a:r>
              <a:rPr lang="en-ZA" sz="4000" dirty="0"/>
              <a:t>Limpopo (Polokwane)</a:t>
            </a:r>
          </a:p>
          <a:p>
            <a:pPr>
              <a:buFont typeface="+mj-lt"/>
              <a:buAutoNum type="arabicPeriod"/>
            </a:pPr>
            <a:r>
              <a:rPr lang="en-ZA" sz="4000" dirty="0"/>
              <a:t>Mpumalanga (Nelspruit)</a:t>
            </a:r>
          </a:p>
          <a:p>
            <a:pPr>
              <a:buFont typeface="+mj-lt"/>
              <a:buAutoNum type="arabicPeriod"/>
            </a:pPr>
            <a:r>
              <a:rPr lang="en-ZA" sz="4000" dirty="0"/>
              <a:t>North West (Mahikeng)</a:t>
            </a:r>
          </a:p>
          <a:p>
            <a:pPr>
              <a:buFont typeface="+mj-lt"/>
              <a:buAutoNum type="arabicPeriod"/>
            </a:pPr>
            <a:r>
              <a:rPr lang="en-ZA" sz="4000" dirty="0"/>
              <a:t>Northern Cape (Kimberley)</a:t>
            </a:r>
          </a:p>
          <a:p>
            <a:pPr>
              <a:buNone/>
            </a:pPr>
            <a:r>
              <a:rPr lang="en-ZA" sz="4000" b="1" dirty="0"/>
              <a:t>Location Features:</a:t>
            </a:r>
            <a:endParaRPr lang="en-ZA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ZA" sz="4000" dirty="0"/>
              <a:t>Multi-location vehicle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4000" dirty="0"/>
              <a:t>Cross-province rentals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4000" dirty="0"/>
              <a:t>Location-based filtering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4000" dirty="0"/>
              <a:t>Pickup/</a:t>
            </a:r>
            <a:r>
              <a:rPr lang="en-ZA" sz="4000" dirty="0" err="1"/>
              <a:t>dropoff</a:t>
            </a:r>
            <a:r>
              <a:rPr lang="en-ZA" sz="4000" dirty="0"/>
              <a:t> flexibility</a:t>
            </a:r>
          </a:p>
          <a:p>
            <a:endParaRPr lang="en-ZA" sz="4000" dirty="0"/>
          </a:p>
        </p:txBody>
      </p:sp>
    </p:spTree>
    <p:extLst>
      <p:ext uri="{BB962C8B-B14F-4D97-AF65-F5344CB8AC3E}">
        <p14:creationId xmlns:p14="http://schemas.microsoft.com/office/powerpoint/2010/main" val="4235645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ED47B-A5E7-ECDC-8745-58DDD8AF3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3" y="1353313"/>
            <a:ext cx="10889749" cy="523195"/>
          </a:xfrm>
        </p:spPr>
        <p:txBody>
          <a:bodyPr>
            <a:normAutofit/>
          </a:bodyPr>
          <a:lstStyle/>
          <a:p>
            <a:r>
              <a:rPr lang="en-GB" sz="2400" dirty="0"/>
              <a:t>🏗️ Technical Architecture Java Desktop Application System Architecture:</a:t>
            </a:r>
            <a:endParaRPr lang="en-ZA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C8ABC-E82C-CA31-24D8-30DBF37BE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1168" y="2633472"/>
            <a:ext cx="5742432" cy="5367528"/>
          </a:xfrm>
        </p:spPr>
        <p:txBody>
          <a:bodyPr>
            <a:normAutofit fontScale="25000" lnSpcReduction="20000"/>
          </a:bodyPr>
          <a:lstStyle/>
          <a:p>
            <a:r>
              <a:rPr lang="en-ZA" sz="1400" dirty="0"/>
              <a:t>┌─────────────────────────────────────┐</a:t>
            </a:r>
          </a:p>
          <a:p>
            <a:r>
              <a:rPr lang="en-ZA" sz="4000" dirty="0"/>
              <a:t>│     User Interface Layer            │</a:t>
            </a:r>
          </a:p>
          <a:p>
            <a:r>
              <a:rPr lang="en-ZA" sz="4000" dirty="0"/>
              <a:t>│  (Java Swing Components)            │</a:t>
            </a:r>
          </a:p>
          <a:p>
            <a:r>
              <a:rPr lang="en-ZA" sz="4000" dirty="0"/>
              <a:t>│  - </a:t>
            </a:r>
            <a:r>
              <a:rPr lang="en-ZA" sz="4000" dirty="0" err="1"/>
              <a:t>JFrame</a:t>
            </a:r>
            <a:r>
              <a:rPr lang="en-ZA" sz="4000" dirty="0"/>
              <a:t>, </a:t>
            </a:r>
            <a:r>
              <a:rPr lang="en-ZA" sz="4000" dirty="0" err="1"/>
              <a:t>JTable</a:t>
            </a:r>
            <a:r>
              <a:rPr lang="en-ZA" sz="4000" dirty="0"/>
              <a:t>, </a:t>
            </a:r>
            <a:r>
              <a:rPr lang="en-ZA" sz="4000" dirty="0" err="1"/>
              <a:t>JTabbedPane</a:t>
            </a:r>
            <a:r>
              <a:rPr lang="en-ZA" sz="4000" dirty="0"/>
              <a:t>      │</a:t>
            </a:r>
          </a:p>
          <a:p>
            <a:r>
              <a:rPr lang="en-ZA" sz="4000" dirty="0"/>
              <a:t>│  - Custom styled buttons/panels     │</a:t>
            </a:r>
          </a:p>
          <a:p>
            <a:r>
              <a:rPr lang="en-ZA" sz="4000" dirty="0"/>
              <a:t>└──────────────┬──────────────────────┘</a:t>
            </a:r>
          </a:p>
          <a:p>
            <a:r>
              <a:rPr lang="en-ZA" sz="4000" dirty="0"/>
              <a:t>               │</a:t>
            </a:r>
          </a:p>
          <a:p>
            <a:r>
              <a:rPr lang="en-ZA" sz="4000" dirty="0"/>
              <a:t>┌──────────────▼──────────────────────┐</a:t>
            </a:r>
          </a:p>
          <a:p>
            <a:r>
              <a:rPr lang="en-ZA" sz="4000" dirty="0"/>
              <a:t>│     Business Logic Layer            │</a:t>
            </a:r>
          </a:p>
          <a:p>
            <a:r>
              <a:rPr lang="en-ZA" sz="4000" dirty="0"/>
              <a:t>│  - Vehicle Management               │</a:t>
            </a:r>
          </a:p>
          <a:p>
            <a:r>
              <a:rPr lang="en-ZA" sz="4000" dirty="0"/>
              <a:t>│  - Rental Operations                │</a:t>
            </a:r>
          </a:p>
          <a:p>
            <a:r>
              <a:rPr lang="en-ZA" sz="4000" dirty="0"/>
              <a:t>│  - Customer Management              │</a:t>
            </a:r>
          </a:p>
          <a:p>
            <a:r>
              <a:rPr lang="en-ZA" sz="4000" dirty="0"/>
              <a:t>│  - Cost Calculations                │</a:t>
            </a:r>
          </a:p>
          <a:p>
            <a:r>
              <a:rPr lang="en-ZA" sz="4000" dirty="0"/>
              <a:t>└──────────────┬──────────────────────┘</a:t>
            </a:r>
          </a:p>
          <a:p>
            <a:r>
              <a:rPr lang="en-ZA" sz="4000" dirty="0"/>
              <a:t>               │</a:t>
            </a:r>
          </a:p>
          <a:p>
            <a:r>
              <a:rPr lang="en-ZA" sz="4000" dirty="0"/>
              <a:t>┌──────────────▼──────────────────────┐</a:t>
            </a:r>
          </a:p>
          <a:p>
            <a:r>
              <a:rPr lang="en-ZA" sz="4000" dirty="0"/>
              <a:t>│     Data Access Layer               │</a:t>
            </a:r>
          </a:p>
          <a:p>
            <a:r>
              <a:rPr lang="en-ZA" sz="4000" dirty="0"/>
              <a:t>│  - JDBC Connection                  │</a:t>
            </a:r>
          </a:p>
          <a:p>
            <a:r>
              <a:rPr lang="en-ZA" sz="4000" dirty="0"/>
              <a:t>│  - SQL Queries (CRUD)               │</a:t>
            </a:r>
          </a:p>
          <a:p>
            <a:r>
              <a:rPr lang="en-ZA" sz="4000" dirty="0"/>
              <a:t>│  - </a:t>
            </a:r>
            <a:r>
              <a:rPr lang="en-ZA" sz="4000" dirty="0" err="1"/>
              <a:t>PreparedStatements</a:t>
            </a:r>
            <a:r>
              <a:rPr lang="en-ZA" sz="4000" dirty="0"/>
              <a:t>               │</a:t>
            </a:r>
          </a:p>
          <a:p>
            <a:r>
              <a:rPr lang="en-ZA" sz="4000" dirty="0"/>
              <a:t>└──────────────┬──────────────────────┘</a:t>
            </a:r>
          </a:p>
          <a:p>
            <a:r>
              <a:rPr lang="en-ZA" sz="4000" dirty="0"/>
              <a:t>               │</a:t>
            </a:r>
          </a:p>
          <a:p>
            <a:r>
              <a:rPr lang="en-ZA" sz="4000" dirty="0"/>
              <a:t>┌──────────────▼──────────────────────┐</a:t>
            </a:r>
          </a:p>
          <a:p>
            <a:r>
              <a:rPr lang="en-ZA" sz="4000" dirty="0"/>
              <a:t>│     Database Layer                  │</a:t>
            </a:r>
          </a:p>
          <a:p>
            <a:r>
              <a:rPr lang="en-ZA" sz="4000" dirty="0"/>
              <a:t>│  (SQLite Embedded Database)         │</a:t>
            </a:r>
          </a:p>
          <a:p>
            <a:r>
              <a:rPr lang="en-ZA" sz="4000" dirty="0"/>
              <a:t>│  - vehicles table                   │</a:t>
            </a:r>
          </a:p>
          <a:p>
            <a:r>
              <a:rPr lang="en-ZA" sz="4000" dirty="0"/>
              <a:t>│  - customers table                  │</a:t>
            </a:r>
          </a:p>
          <a:p>
            <a:r>
              <a:rPr lang="en-ZA" sz="4000" dirty="0"/>
              <a:t>│  - rentals table                    │</a:t>
            </a:r>
          </a:p>
          <a:p>
            <a:r>
              <a:rPr lang="en-ZA" sz="1400" dirty="0"/>
              <a:t>└─────────────────────────────────────┘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F6753-9E91-62D8-1815-3A34B1AB02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ZA" sz="4200" b="1" dirty="0"/>
              <a:t>Key Components:</a:t>
            </a:r>
            <a:endParaRPr lang="en-ZA" sz="4200" dirty="0"/>
          </a:p>
          <a:p>
            <a:r>
              <a:rPr lang="en-ZA" sz="4200" b="1" dirty="0"/>
              <a:t>ModernVehicleRentalSystem.java</a:t>
            </a:r>
            <a:r>
              <a:rPr lang="en-ZA" sz="4200" dirty="0"/>
              <a:t>: Main application class</a:t>
            </a:r>
          </a:p>
          <a:p>
            <a:r>
              <a:rPr lang="en-ZA" sz="4200" b="1" dirty="0"/>
              <a:t>Vehicle.java</a:t>
            </a:r>
            <a:r>
              <a:rPr lang="en-ZA" sz="4200" dirty="0"/>
              <a:t>: Vehicle entity model</a:t>
            </a:r>
          </a:p>
          <a:p>
            <a:r>
              <a:rPr lang="en-ZA" sz="4200" b="1" dirty="0"/>
              <a:t>Customer.java</a:t>
            </a:r>
            <a:r>
              <a:rPr lang="en-ZA" sz="4200" dirty="0"/>
              <a:t>: Customer entity model</a:t>
            </a:r>
          </a:p>
          <a:p>
            <a:r>
              <a:rPr lang="en-ZA" sz="4200" b="1" dirty="0"/>
              <a:t>Rental.java</a:t>
            </a:r>
            <a:r>
              <a:rPr lang="en-ZA" sz="4200" dirty="0"/>
              <a:t>: Rental transaction model</a:t>
            </a:r>
          </a:p>
          <a:p>
            <a:r>
              <a:rPr lang="en-ZA" sz="4200" b="1" dirty="0"/>
              <a:t>Web Application</a:t>
            </a:r>
          </a:p>
          <a:p>
            <a:r>
              <a:rPr lang="en-ZA" sz="4200" b="1" dirty="0"/>
              <a:t>Architecture:</a:t>
            </a:r>
            <a:endParaRPr lang="en-ZA" sz="4200" dirty="0"/>
          </a:p>
          <a:p>
            <a:endParaRPr lang="en-ZA" sz="1000" dirty="0"/>
          </a:p>
        </p:txBody>
      </p:sp>
    </p:spTree>
    <p:extLst>
      <p:ext uri="{BB962C8B-B14F-4D97-AF65-F5344CB8AC3E}">
        <p14:creationId xmlns:p14="http://schemas.microsoft.com/office/powerpoint/2010/main" val="304762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C6A0-C9F8-726C-030F-A0FACF8E1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EFC0F-21B5-B135-32E9-73C8A0914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1"/>
            <a:ext cx="5212080" cy="7051217"/>
          </a:xfrm>
        </p:spPr>
        <p:txBody>
          <a:bodyPr>
            <a:normAutofit fontScale="25000" lnSpcReduction="20000"/>
          </a:bodyPr>
          <a:lstStyle/>
          <a:p>
            <a:r>
              <a:rPr lang="en-ZA" sz="1000" dirty="0"/>
              <a:t>┌─────────────────────────────────────┐</a:t>
            </a:r>
          </a:p>
          <a:p>
            <a:r>
              <a:rPr lang="en-ZA" sz="4200" dirty="0"/>
              <a:t>│     Presentation Layer              │</a:t>
            </a:r>
          </a:p>
          <a:p>
            <a:r>
              <a:rPr lang="en-ZA" sz="4200" dirty="0"/>
              <a:t>│  (HTML5 + CSS3)                     │</a:t>
            </a:r>
          </a:p>
          <a:p>
            <a:r>
              <a:rPr lang="en-ZA" sz="4200" dirty="0"/>
              <a:t>│  - Responsive layouts               │</a:t>
            </a:r>
          </a:p>
          <a:p>
            <a:r>
              <a:rPr lang="en-ZA" sz="4200" dirty="0"/>
              <a:t>│  - Modern styling                   │</a:t>
            </a:r>
          </a:p>
          <a:p>
            <a:r>
              <a:rPr lang="en-ZA" sz="4200" dirty="0"/>
              <a:t>│  - Gradient effects                 │</a:t>
            </a:r>
          </a:p>
          <a:p>
            <a:r>
              <a:rPr lang="en-ZA" sz="4200" dirty="0"/>
              <a:t>└──────────────┬──────────────────────┘</a:t>
            </a:r>
          </a:p>
          <a:p>
            <a:r>
              <a:rPr lang="en-ZA" sz="4200" dirty="0"/>
              <a:t>               │</a:t>
            </a:r>
          </a:p>
          <a:p>
            <a:r>
              <a:rPr lang="en-ZA" sz="4200" dirty="0"/>
              <a:t>┌──────────────▼──────────────────────┐</a:t>
            </a:r>
          </a:p>
          <a:p>
            <a:r>
              <a:rPr lang="en-ZA" sz="4200" dirty="0"/>
              <a:t>│     Application Layer               │</a:t>
            </a:r>
          </a:p>
          <a:p>
            <a:r>
              <a:rPr lang="en-ZA" sz="4200" dirty="0"/>
              <a:t>│  (JavaScript ES6+)                  │</a:t>
            </a:r>
          </a:p>
          <a:p>
            <a:r>
              <a:rPr lang="en-ZA" sz="4200" dirty="0"/>
              <a:t>│  - Event handlers                   │</a:t>
            </a:r>
          </a:p>
          <a:p>
            <a:r>
              <a:rPr lang="en-ZA" sz="4200" dirty="0"/>
              <a:t>│  - Business logic                   │</a:t>
            </a:r>
          </a:p>
          <a:p>
            <a:r>
              <a:rPr lang="en-ZA" sz="4200" dirty="0"/>
              <a:t>│  - Data manipulation                │</a:t>
            </a:r>
          </a:p>
          <a:p>
            <a:r>
              <a:rPr lang="en-ZA" sz="4200" dirty="0"/>
              <a:t>│  - QR generation (</a:t>
            </a:r>
            <a:r>
              <a:rPr lang="en-ZA" sz="4200" dirty="0" err="1"/>
              <a:t>QRious</a:t>
            </a:r>
            <a:r>
              <a:rPr lang="en-ZA" sz="4200" dirty="0"/>
              <a:t> lib)       │</a:t>
            </a:r>
          </a:p>
          <a:p>
            <a:r>
              <a:rPr lang="en-ZA" sz="4200" dirty="0"/>
              <a:t>└──────────────┬──────────────────────┘</a:t>
            </a:r>
          </a:p>
          <a:p>
            <a:r>
              <a:rPr lang="en-ZA" sz="4200" dirty="0"/>
              <a:t>               │</a:t>
            </a:r>
          </a:p>
          <a:p>
            <a:r>
              <a:rPr lang="en-ZA" sz="4200" dirty="0"/>
              <a:t>┌──────────────▼──────────────────────┐</a:t>
            </a:r>
          </a:p>
          <a:p>
            <a:r>
              <a:rPr lang="en-ZA" sz="4200" dirty="0"/>
              <a:t>│     Data Layer                      │</a:t>
            </a:r>
          </a:p>
          <a:p>
            <a:r>
              <a:rPr lang="en-ZA" sz="4200" dirty="0"/>
              <a:t>│  (Browser </a:t>
            </a:r>
            <a:r>
              <a:rPr lang="en-ZA" sz="4200" dirty="0" err="1"/>
              <a:t>LocalStorage</a:t>
            </a:r>
            <a:r>
              <a:rPr lang="en-ZA" sz="4200" dirty="0"/>
              <a:t>)             │</a:t>
            </a:r>
          </a:p>
          <a:p>
            <a:r>
              <a:rPr lang="en-ZA" sz="4200" dirty="0"/>
              <a:t>│  - Vehicle data                     │</a:t>
            </a:r>
          </a:p>
          <a:p>
            <a:r>
              <a:rPr lang="en-ZA" sz="4200" dirty="0"/>
              <a:t>│  - Rental records                   │</a:t>
            </a:r>
          </a:p>
          <a:p>
            <a:r>
              <a:rPr lang="en-ZA" sz="4200" dirty="0"/>
              <a:t>│  - Customer information             │</a:t>
            </a:r>
          </a:p>
          <a:p>
            <a:r>
              <a:rPr lang="en-ZA" sz="1000" dirty="0"/>
              <a:t>└─────────────────────────────────────┘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5F1277-683C-216D-6552-D836C3B70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7819" y="2633471"/>
            <a:ext cx="5623189" cy="6415113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ZA" sz="4400" b="1" dirty="0"/>
              <a:t>Technologies:</a:t>
            </a:r>
            <a:endParaRPr lang="en-ZA" sz="4400" dirty="0"/>
          </a:p>
          <a:p>
            <a:pPr>
              <a:buFont typeface="Arial" panose="020B0604020202020204" pitchFamily="34" charset="0"/>
              <a:buChar char="•"/>
            </a:pPr>
            <a:r>
              <a:rPr lang="en-ZA" sz="4400" dirty="0"/>
              <a:t>HTML5: Semantic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4400" dirty="0"/>
              <a:t>CSS3: Modern styling, animations, responsive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4400" dirty="0"/>
              <a:t>JavaScript: Client-side logic, DOM manipulation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4400" dirty="0" err="1"/>
              <a:t>QRious</a:t>
            </a:r>
            <a:r>
              <a:rPr lang="en-ZA" sz="4400" dirty="0"/>
              <a:t>: QR code generation library</a:t>
            </a:r>
          </a:p>
          <a:p>
            <a:pPr>
              <a:buNone/>
            </a:pPr>
            <a:r>
              <a:rPr lang="en-ZA" sz="4000" b="1" dirty="0"/>
              <a:t>🗄️ Database Schema</a:t>
            </a:r>
          </a:p>
          <a:p>
            <a:pPr>
              <a:buNone/>
            </a:pPr>
            <a:r>
              <a:rPr lang="en-ZA" sz="4000" b="1" dirty="0"/>
              <a:t>SQLite Database Structure</a:t>
            </a:r>
          </a:p>
          <a:p>
            <a:pPr>
              <a:buNone/>
            </a:pPr>
            <a:r>
              <a:rPr lang="en-ZA" sz="4000" b="1" dirty="0"/>
              <a:t>Database File:</a:t>
            </a:r>
            <a:r>
              <a:rPr lang="en-ZA" sz="4000" dirty="0"/>
              <a:t> </a:t>
            </a:r>
            <a:r>
              <a:rPr lang="en-ZA" sz="4000" dirty="0" err="1">
                <a:latin typeface="Courier New" panose="02070309020205020404" pitchFamily="49" charset="0"/>
              </a:rPr>
              <a:t>vehicle_rental.db</a:t>
            </a:r>
            <a:endParaRPr lang="en-ZA" sz="4000" dirty="0"/>
          </a:p>
          <a:p>
            <a:pPr>
              <a:buNone/>
            </a:pPr>
            <a:r>
              <a:rPr lang="en-ZA" sz="4000" b="1" dirty="0"/>
              <a:t>1. Vehicles Table</a:t>
            </a:r>
          </a:p>
          <a:p>
            <a:r>
              <a:rPr lang="en-ZA" sz="4200" dirty="0"/>
              <a:t>CREATE TABLE vehicles (</a:t>
            </a:r>
          </a:p>
          <a:p>
            <a:r>
              <a:rPr lang="en-ZA" sz="4200" dirty="0"/>
              <a:t>    id VARCHAR(10) PRIMARY KEY,</a:t>
            </a:r>
          </a:p>
          <a:p>
            <a:r>
              <a:rPr lang="en-ZA" sz="4200" dirty="0"/>
              <a:t>    model VARCHAR(100) NOT NULL,</a:t>
            </a:r>
          </a:p>
          <a:p>
            <a:r>
              <a:rPr lang="en-ZA" sz="4200" dirty="0"/>
              <a:t>    type VARCHAR(50) NOT NULL,</a:t>
            </a:r>
          </a:p>
          <a:p>
            <a:r>
              <a:rPr lang="en-ZA" sz="4200" dirty="0"/>
              <a:t>    year INTEGER NOT NULL,</a:t>
            </a:r>
          </a:p>
          <a:p>
            <a:r>
              <a:rPr lang="en-ZA" sz="4200" dirty="0"/>
              <a:t>    </a:t>
            </a:r>
            <a:r>
              <a:rPr lang="en-ZA" sz="4200" dirty="0" err="1"/>
              <a:t>daily_rate</a:t>
            </a:r>
            <a:r>
              <a:rPr lang="en-ZA" sz="4200" dirty="0"/>
              <a:t> DECIMAL(10,2) NOT NULL,</a:t>
            </a:r>
          </a:p>
          <a:p>
            <a:r>
              <a:rPr lang="en-ZA" sz="4200" dirty="0"/>
              <a:t>    available BOOLEAN DEFAULT TRUE,</a:t>
            </a:r>
          </a:p>
          <a:p>
            <a:r>
              <a:rPr lang="en-ZA" sz="4200" dirty="0"/>
              <a:t>    transmission VARCHAR(20) NOT NULL,</a:t>
            </a:r>
          </a:p>
          <a:p>
            <a:r>
              <a:rPr lang="en-ZA" sz="4200" dirty="0"/>
              <a:t>    seats INTEGER NOT NULL,</a:t>
            </a:r>
          </a:p>
          <a:p>
            <a:r>
              <a:rPr lang="en-ZA" sz="4200" dirty="0"/>
              <a:t>    location VARCHAR(50) NOT NULL,</a:t>
            </a:r>
          </a:p>
          <a:p>
            <a:r>
              <a:rPr lang="en-ZA" sz="4200" dirty="0"/>
              <a:t>    mileage INTEGER NOT NULL,</a:t>
            </a:r>
          </a:p>
          <a:p>
            <a:r>
              <a:rPr lang="en-ZA" sz="4200" dirty="0"/>
              <a:t>    </a:t>
            </a:r>
            <a:r>
              <a:rPr lang="en-ZA" sz="4200" dirty="0" err="1"/>
              <a:t>fuel_type</a:t>
            </a:r>
            <a:r>
              <a:rPr lang="en-ZA" sz="4200" dirty="0"/>
              <a:t> VARCHAR(20) NOT NULL</a:t>
            </a:r>
          </a:p>
          <a:p>
            <a:r>
              <a:rPr lang="en-ZA" sz="42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3693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85C2-7438-12DC-C307-9F0B72D79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7D9766E-033D-7898-40C9-6A5BC6E71F8B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39763" y="3986017"/>
          <a:ext cx="5211762" cy="860816"/>
        </p:xfrm>
        <a:graphic>
          <a:graphicData uri="http://schemas.openxmlformats.org/drawingml/2006/table">
            <a:tbl>
              <a:tblPr/>
              <a:tblGrid>
                <a:gridCol w="868627">
                  <a:extLst>
                    <a:ext uri="{9D8B030D-6E8A-4147-A177-3AD203B41FA5}">
                      <a16:colId xmlns:a16="http://schemas.microsoft.com/office/drawing/2014/main" val="820571444"/>
                    </a:ext>
                  </a:extLst>
                </a:gridCol>
                <a:gridCol w="868627">
                  <a:extLst>
                    <a:ext uri="{9D8B030D-6E8A-4147-A177-3AD203B41FA5}">
                      <a16:colId xmlns:a16="http://schemas.microsoft.com/office/drawing/2014/main" val="410998296"/>
                    </a:ext>
                  </a:extLst>
                </a:gridCol>
                <a:gridCol w="868627">
                  <a:extLst>
                    <a:ext uri="{9D8B030D-6E8A-4147-A177-3AD203B41FA5}">
                      <a16:colId xmlns:a16="http://schemas.microsoft.com/office/drawing/2014/main" val="4253888557"/>
                    </a:ext>
                  </a:extLst>
                </a:gridCol>
                <a:gridCol w="868627">
                  <a:extLst>
                    <a:ext uri="{9D8B030D-6E8A-4147-A177-3AD203B41FA5}">
                      <a16:colId xmlns:a16="http://schemas.microsoft.com/office/drawing/2014/main" val="602093594"/>
                    </a:ext>
                  </a:extLst>
                </a:gridCol>
                <a:gridCol w="868627">
                  <a:extLst>
                    <a:ext uri="{9D8B030D-6E8A-4147-A177-3AD203B41FA5}">
                      <a16:colId xmlns:a16="http://schemas.microsoft.com/office/drawing/2014/main" val="3161897182"/>
                    </a:ext>
                  </a:extLst>
                </a:gridCol>
                <a:gridCol w="868627">
                  <a:extLst>
                    <a:ext uri="{9D8B030D-6E8A-4147-A177-3AD203B41FA5}">
                      <a16:colId xmlns:a16="http://schemas.microsoft.com/office/drawing/2014/main" val="1673881313"/>
                    </a:ext>
                  </a:extLst>
                </a:gridCol>
              </a:tblGrid>
              <a:tr h="175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id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model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type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year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daily_rate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available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831187"/>
                  </a:ext>
                </a:extLst>
              </a:tr>
              <a:tr h="175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V001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Toyota Corolla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Sedan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2023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450.00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TRUE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88933"/>
                  </a:ext>
                </a:extLst>
              </a:tr>
              <a:tr h="175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V002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Toyota Fortuner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SUV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2023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850.00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TRUE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091307"/>
                  </a:ext>
                </a:extLst>
              </a:tr>
              <a:tr h="175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V005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 dirty="0"/>
                        <a:t>BMW 3 Series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Luxury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2024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1200.00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 dirty="0"/>
                        <a:t>TRUE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494269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2F1D8-8345-8BA4-7D6A-54B6D545FA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1200" dirty="0"/>
              <a:t>CREATE TABLE customers (</a:t>
            </a:r>
          </a:p>
          <a:p>
            <a:r>
              <a:rPr lang="en-GB" sz="1200" dirty="0"/>
              <a:t>    id VARCHAR(10) PRIMARY KEY,</a:t>
            </a:r>
          </a:p>
          <a:p>
            <a:r>
              <a:rPr lang="en-GB" sz="1200" dirty="0"/>
              <a:t>    name VARCHAR(100) NOT NULL,</a:t>
            </a:r>
          </a:p>
          <a:p>
            <a:r>
              <a:rPr lang="en-GB" sz="1200" dirty="0"/>
              <a:t>    email VARCHAR(100) UNIQUE NOT NULL,</a:t>
            </a:r>
          </a:p>
          <a:p>
            <a:r>
              <a:rPr lang="en-GB" sz="1200" dirty="0"/>
              <a:t>    phone VARCHAR(20) NOT NULL,</a:t>
            </a:r>
          </a:p>
          <a:p>
            <a:r>
              <a:rPr lang="en-GB" sz="1200" dirty="0"/>
              <a:t>    </a:t>
            </a:r>
            <a:r>
              <a:rPr lang="en-GB" sz="1200" dirty="0" err="1"/>
              <a:t>license_number</a:t>
            </a:r>
            <a:r>
              <a:rPr lang="en-GB" sz="1200" dirty="0"/>
              <a:t> VARCHAR(50) NOT NULL</a:t>
            </a:r>
          </a:p>
          <a:p>
            <a:r>
              <a:rPr lang="en-GB" sz="1200" dirty="0"/>
              <a:t>);</a:t>
            </a:r>
            <a:endParaRPr lang="en-ZA" sz="12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105AB5C-7C4E-9672-C220-8A920785C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 Data:</a:t>
            </a: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Customers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A626A4"/>
                </a:solidFill>
                <a:effectLst/>
                <a:latin typeface="var(--font-mono)"/>
              </a:rPr>
              <a:t>CREATE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A626A4"/>
                </a:solidFill>
                <a:effectLst/>
                <a:latin typeface="var(--font-mono)"/>
              </a:rPr>
              <a:t>TABLE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 customers ( id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A626A4"/>
                </a:solidFill>
                <a:effectLst/>
                <a:latin typeface="var(--font-mono)"/>
              </a:rPr>
              <a:t>VARCHAR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B76B01"/>
                </a:solidFill>
                <a:effectLst/>
                <a:latin typeface="var(--font-mono)"/>
              </a:rPr>
              <a:t>10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)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A626A4"/>
                </a:solidFill>
                <a:effectLst/>
                <a:latin typeface="var(--font-mono)"/>
              </a:rPr>
              <a:t>PRIMARY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A626A4"/>
                </a:solidFill>
                <a:effectLst/>
                <a:latin typeface="var(--font-mono)"/>
              </a:rPr>
              <a:t>KEY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, name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A626A4"/>
                </a:solidFill>
                <a:effectLst/>
                <a:latin typeface="var(--font-mono)"/>
              </a:rPr>
              <a:t>VARCHAR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B76B01"/>
                </a:solidFill>
                <a:effectLst/>
                <a:latin typeface="var(--font-mono)"/>
              </a:rPr>
              <a:t>100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)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4078F2"/>
                </a:solidFill>
                <a:effectLst/>
                <a:latin typeface="var(--font-mono)"/>
              </a:rPr>
              <a:t>NOT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B76B01"/>
                </a:solidFill>
                <a:effectLst/>
                <a:latin typeface="var(--font-mono)"/>
              </a:rPr>
              <a:t>NULL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, email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A626A4"/>
                </a:solidFill>
                <a:effectLst/>
                <a:latin typeface="var(--font-mono)"/>
              </a:rPr>
              <a:t>VARCHAR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B76B01"/>
                </a:solidFill>
                <a:effectLst/>
                <a:latin typeface="var(--font-mono)"/>
              </a:rPr>
              <a:t>100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)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A626A4"/>
                </a:solidFill>
                <a:effectLst/>
                <a:latin typeface="var(--font-mono)"/>
              </a:rPr>
              <a:t>UNIQUE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4078F2"/>
                </a:solidFill>
                <a:effectLst/>
                <a:latin typeface="var(--font-mono)"/>
              </a:rPr>
              <a:t>NOT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B76B01"/>
                </a:solidFill>
                <a:effectLst/>
                <a:latin typeface="var(--font-mono)"/>
              </a:rPr>
              <a:t>NULL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, phone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A626A4"/>
                </a:solidFill>
                <a:effectLst/>
                <a:latin typeface="var(--font-mono)"/>
              </a:rPr>
              <a:t>VARCHAR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B76B01"/>
                </a:solidFill>
                <a:effectLst/>
                <a:latin typeface="var(--font-mono)"/>
              </a:rPr>
              <a:t>20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)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4078F2"/>
                </a:solidFill>
                <a:effectLst/>
                <a:latin typeface="var(--font-mono)"/>
              </a:rPr>
              <a:t>NOT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B76B01"/>
                </a:solidFill>
                <a:effectLst/>
                <a:latin typeface="var(--font-mono)"/>
              </a:rPr>
              <a:t>NULL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, license_number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A626A4"/>
                </a:solidFill>
                <a:effectLst/>
                <a:latin typeface="var(--font-mono)"/>
              </a:rPr>
              <a:t>VARCHAR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B76B01"/>
                </a:solidFill>
                <a:effectLst/>
                <a:latin typeface="var(--font-mono)"/>
              </a:rPr>
              <a:t>50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)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4078F2"/>
                </a:solidFill>
                <a:effectLst/>
                <a:latin typeface="var(--font-mono)"/>
              </a:rPr>
              <a:t>NOT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B76B01"/>
                </a:solidFill>
                <a:effectLst/>
                <a:latin typeface="var(--font-mono)"/>
              </a:rPr>
              <a:t>NULL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 );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265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3C76D-3F81-800C-49B8-327A4434C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B167BDB-C49B-17CA-43BD-27C46F217A0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39764" y="4145054"/>
          <a:ext cx="5211760" cy="542742"/>
        </p:xfrm>
        <a:graphic>
          <a:graphicData uri="http://schemas.openxmlformats.org/drawingml/2006/table">
            <a:tbl>
              <a:tblPr/>
              <a:tblGrid>
                <a:gridCol w="1302940">
                  <a:extLst>
                    <a:ext uri="{9D8B030D-6E8A-4147-A177-3AD203B41FA5}">
                      <a16:colId xmlns:a16="http://schemas.microsoft.com/office/drawing/2014/main" val="969704617"/>
                    </a:ext>
                  </a:extLst>
                </a:gridCol>
                <a:gridCol w="1302940">
                  <a:extLst>
                    <a:ext uri="{9D8B030D-6E8A-4147-A177-3AD203B41FA5}">
                      <a16:colId xmlns:a16="http://schemas.microsoft.com/office/drawing/2014/main" val="1531638944"/>
                    </a:ext>
                  </a:extLst>
                </a:gridCol>
                <a:gridCol w="1302940">
                  <a:extLst>
                    <a:ext uri="{9D8B030D-6E8A-4147-A177-3AD203B41FA5}">
                      <a16:colId xmlns:a16="http://schemas.microsoft.com/office/drawing/2014/main" val="4230232012"/>
                    </a:ext>
                  </a:extLst>
                </a:gridCol>
                <a:gridCol w="1302940">
                  <a:extLst>
                    <a:ext uri="{9D8B030D-6E8A-4147-A177-3AD203B41FA5}">
                      <a16:colId xmlns:a16="http://schemas.microsoft.com/office/drawing/2014/main" val="675242544"/>
                    </a:ext>
                  </a:extLst>
                </a:gridCol>
              </a:tblGrid>
              <a:tr h="175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id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name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email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phone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636473"/>
                  </a:ext>
                </a:extLst>
              </a:tr>
              <a:tr h="175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C001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Thabo Mbeki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>
                          <a:hlinkClick r:id="rId2"/>
                        </a:rPr>
                        <a:t>thabo.mbeki@email.com</a:t>
                      </a:r>
                      <a:endParaRPr lang="en-ZA" sz="900"/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+27-82-555-0101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442604"/>
                  </a:ext>
                </a:extLst>
              </a:tr>
              <a:tr h="175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C002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Sarah van der Merwe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>
                          <a:hlinkClick r:id="rId3"/>
                        </a:rPr>
                        <a:t>sarah.vdm@email.com</a:t>
                      </a:r>
                      <a:endParaRPr lang="en-ZA" sz="900"/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 dirty="0"/>
                        <a:t>+27-83-555-0102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991546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F1B53-55AA-0455-58A8-3F7849C504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ZA" sz="1050" dirty="0"/>
              <a:t>CREATE TABLE rentals (</a:t>
            </a:r>
          </a:p>
          <a:p>
            <a:r>
              <a:rPr lang="en-ZA" sz="1050" dirty="0"/>
              <a:t>    </a:t>
            </a:r>
            <a:r>
              <a:rPr lang="en-ZA" sz="1050" dirty="0" err="1"/>
              <a:t>rental_id</a:t>
            </a:r>
            <a:r>
              <a:rPr lang="en-ZA" sz="1050" dirty="0"/>
              <a:t> VARCHAR(10) PRIMARY KEY,</a:t>
            </a:r>
          </a:p>
          <a:p>
            <a:r>
              <a:rPr lang="en-ZA" sz="1050" dirty="0"/>
              <a:t>    </a:t>
            </a:r>
            <a:r>
              <a:rPr lang="en-ZA" sz="1050" dirty="0" err="1"/>
              <a:t>vehicle_id</a:t>
            </a:r>
            <a:r>
              <a:rPr lang="en-ZA" sz="1050" dirty="0"/>
              <a:t> VARCHAR(10) NOT NULL,</a:t>
            </a:r>
          </a:p>
          <a:p>
            <a:r>
              <a:rPr lang="en-ZA" sz="1050" dirty="0"/>
              <a:t>    </a:t>
            </a:r>
            <a:r>
              <a:rPr lang="en-ZA" sz="1050" dirty="0" err="1"/>
              <a:t>customer_id</a:t>
            </a:r>
            <a:r>
              <a:rPr lang="en-ZA" sz="1050" dirty="0"/>
              <a:t> VARCHAR(10) NOT NULL,</a:t>
            </a:r>
          </a:p>
          <a:p>
            <a:r>
              <a:rPr lang="en-ZA" sz="1050" dirty="0"/>
              <a:t>    </a:t>
            </a:r>
            <a:r>
              <a:rPr lang="en-ZA" sz="1050" dirty="0" err="1"/>
              <a:t>customer_name</a:t>
            </a:r>
            <a:r>
              <a:rPr lang="en-ZA" sz="1050" dirty="0"/>
              <a:t> VARCHAR(100) NOT NULL,</a:t>
            </a:r>
          </a:p>
          <a:p>
            <a:r>
              <a:rPr lang="en-ZA" sz="1050" dirty="0"/>
              <a:t>    </a:t>
            </a:r>
            <a:r>
              <a:rPr lang="en-ZA" sz="1050" dirty="0" err="1"/>
              <a:t>start_date</a:t>
            </a:r>
            <a:r>
              <a:rPr lang="en-ZA" sz="1050" dirty="0"/>
              <a:t> DATE NOT NULL,</a:t>
            </a:r>
          </a:p>
          <a:p>
            <a:r>
              <a:rPr lang="en-ZA" sz="1050" dirty="0"/>
              <a:t>    </a:t>
            </a:r>
            <a:r>
              <a:rPr lang="en-ZA" sz="1050" dirty="0" err="1"/>
              <a:t>end_date</a:t>
            </a:r>
            <a:r>
              <a:rPr lang="en-ZA" sz="1050" dirty="0"/>
              <a:t> DATE NOT NULL,</a:t>
            </a:r>
          </a:p>
          <a:p>
            <a:r>
              <a:rPr lang="en-ZA" sz="1050" dirty="0"/>
              <a:t>    </a:t>
            </a:r>
            <a:r>
              <a:rPr lang="en-ZA" sz="1050" dirty="0" err="1"/>
              <a:t>total_cost</a:t>
            </a:r>
            <a:r>
              <a:rPr lang="en-ZA" sz="1050" dirty="0"/>
              <a:t> DECIMAL(10,2) NOT NULL,</a:t>
            </a:r>
          </a:p>
          <a:p>
            <a:r>
              <a:rPr lang="en-ZA" sz="1050" dirty="0"/>
              <a:t>    </a:t>
            </a:r>
            <a:r>
              <a:rPr lang="en-ZA" sz="1050" dirty="0" err="1"/>
              <a:t>pickup_location</a:t>
            </a:r>
            <a:r>
              <a:rPr lang="en-ZA" sz="1050" dirty="0"/>
              <a:t> VARCHAR(50) NOT NULL,</a:t>
            </a:r>
          </a:p>
          <a:p>
            <a:r>
              <a:rPr lang="en-ZA" sz="1050" dirty="0"/>
              <a:t>    </a:t>
            </a:r>
            <a:r>
              <a:rPr lang="en-ZA" sz="1050" dirty="0" err="1"/>
              <a:t>dropoff_location</a:t>
            </a:r>
            <a:r>
              <a:rPr lang="en-ZA" sz="1050" dirty="0"/>
              <a:t> VARCHAR(50) NOT NULL,</a:t>
            </a:r>
          </a:p>
          <a:p>
            <a:r>
              <a:rPr lang="en-ZA" sz="1050" dirty="0"/>
              <a:t>    status VARCHAR(20) DEFAULT 'Active',</a:t>
            </a:r>
          </a:p>
          <a:p>
            <a:r>
              <a:rPr lang="en-ZA" sz="1050" dirty="0"/>
              <a:t>    </a:t>
            </a:r>
            <a:r>
              <a:rPr lang="en-ZA" sz="1050" dirty="0" err="1"/>
              <a:t>payment_status</a:t>
            </a:r>
            <a:r>
              <a:rPr lang="en-ZA" sz="1050" dirty="0"/>
              <a:t> VARCHAR(20) DEFAULT 'Pending',</a:t>
            </a:r>
          </a:p>
          <a:p>
            <a:r>
              <a:rPr lang="en-ZA" sz="1050" dirty="0"/>
              <a:t>    FOREIGN KEY (</a:t>
            </a:r>
            <a:r>
              <a:rPr lang="en-ZA" sz="1050" dirty="0" err="1"/>
              <a:t>vehicle_id</a:t>
            </a:r>
            <a:r>
              <a:rPr lang="en-ZA" sz="1050" dirty="0"/>
              <a:t>) REFERENCES vehicles(id),</a:t>
            </a:r>
          </a:p>
          <a:p>
            <a:r>
              <a:rPr lang="en-ZA" sz="1050" dirty="0"/>
              <a:t>    FOREIGN KEY (</a:t>
            </a:r>
            <a:r>
              <a:rPr lang="en-ZA" sz="1050" dirty="0" err="1"/>
              <a:t>customer_id</a:t>
            </a:r>
            <a:r>
              <a:rPr lang="en-ZA" sz="1050" dirty="0"/>
              <a:t>) REFERENCES customers(id)</a:t>
            </a:r>
          </a:p>
          <a:p>
            <a:r>
              <a:rPr lang="en-ZA" sz="1050" dirty="0"/>
              <a:t>);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E66CEBA-2DF9-A3D8-B07E-305FD4669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 Data: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491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AACC8-7458-A881-92FA-EC508370C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>
                <a:latin typeface="Arial" panose="020B0604020202020204" pitchFamily="34" charset="0"/>
              </a:rPr>
              <a:t>Sample Data:</a:t>
            </a:r>
            <a:br>
              <a:rPr lang="en-US" altLang="en-US" sz="2400" b="0" dirty="0">
                <a:latin typeface="Arial" panose="020B0604020202020204" pitchFamily="34" charset="0"/>
              </a:rPr>
            </a:br>
            <a:endParaRPr lang="en-ZA" sz="24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95350BA-35FA-D475-E60E-53D3CBF0B21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39764" y="4007894"/>
          <a:ext cx="5211759" cy="817062"/>
        </p:xfrm>
        <a:graphic>
          <a:graphicData uri="http://schemas.openxmlformats.org/drawingml/2006/table">
            <a:tbl>
              <a:tblPr/>
              <a:tblGrid>
                <a:gridCol w="744537">
                  <a:extLst>
                    <a:ext uri="{9D8B030D-6E8A-4147-A177-3AD203B41FA5}">
                      <a16:colId xmlns:a16="http://schemas.microsoft.com/office/drawing/2014/main" val="2254934539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799943065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98463102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4095658556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937080028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3927905755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448117001"/>
                    </a:ext>
                  </a:extLst>
                </a:gridCol>
              </a:tblGrid>
              <a:tr h="30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rental_id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vehicle_id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customer_name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start_date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end_date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total_cost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status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428303"/>
                  </a:ext>
                </a:extLst>
              </a:tr>
              <a:tr h="175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R001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V004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Thabo Mbeki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2024-10-15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2024-10-20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4750.00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Completed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748083"/>
                  </a:ext>
                </a:extLst>
              </a:tr>
              <a:tr h="30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R003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V005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Michael Naidoo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2024-11-01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2024-11-05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/>
                        <a:t>4800.00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900" dirty="0"/>
                        <a:t>Active</a:t>
                      </a:r>
                    </a:p>
                  </a:txBody>
                  <a:tcPr marL="43754" marR="43754" marT="21877" marB="21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048126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5B9C7-F708-7F92-59B1-4024E4929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1759" cy="4224528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ZA" sz="3200" b="1" dirty="0"/>
              <a:t>🖥️ User Interface</a:t>
            </a:r>
          </a:p>
          <a:p>
            <a:pPr>
              <a:buNone/>
            </a:pPr>
            <a:r>
              <a:rPr lang="en-ZA" sz="3200" b="1" dirty="0"/>
              <a:t>Desktop Application (Java Swing)</a:t>
            </a:r>
          </a:p>
          <a:p>
            <a:pPr>
              <a:buNone/>
            </a:pPr>
            <a:r>
              <a:rPr lang="en-ZA" sz="3200" b="1" dirty="0"/>
              <a:t>Main Window:</a:t>
            </a:r>
            <a:endParaRPr lang="en-ZA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ZA" sz="3200" dirty="0"/>
              <a:t>Size: 1200×750 pixels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3200" dirty="0"/>
              <a:t>Header: Blue gradient banner with logo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3200" dirty="0"/>
              <a:t>Navigation: 5 tabs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3200" dirty="0"/>
              <a:t>Theme: Professional blue/orange </a:t>
            </a:r>
            <a:r>
              <a:rPr lang="en-ZA" sz="3200" dirty="0" err="1"/>
              <a:t>color</a:t>
            </a:r>
            <a:r>
              <a:rPr lang="en-ZA" sz="3200" dirty="0"/>
              <a:t> scheme</a:t>
            </a:r>
          </a:p>
          <a:p>
            <a:pPr>
              <a:buNone/>
            </a:pPr>
            <a:r>
              <a:rPr lang="en-ZA" sz="3200" b="1" dirty="0"/>
              <a:t>Tabs:</a:t>
            </a:r>
            <a:endParaRPr lang="en-ZA" sz="3200" dirty="0"/>
          </a:p>
          <a:p>
            <a:pPr>
              <a:buFont typeface="+mj-lt"/>
              <a:buAutoNum type="arabicPeriod"/>
            </a:pPr>
            <a:r>
              <a:rPr lang="en-ZA" sz="3200" b="1" dirty="0"/>
              <a:t>Browse Vehicles</a:t>
            </a:r>
            <a:r>
              <a:rPr lang="en-ZA" sz="3200" dirty="0"/>
              <a:t> 🚗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ZA" sz="3200" dirty="0"/>
              <a:t>Table view with 11 columns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ZA" sz="3200" dirty="0"/>
              <a:t>Search bar with filters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ZA" sz="3200" dirty="0"/>
              <a:t>Action buttons (Add, View, Toggle, Refresh)</a:t>
            </a:r>
          </a:p>
          <a:p>
            <a:pPr>
              <a:buFont typeface="+mj-lt"/>
              <a:buAutoNum type="arabicPeriod"/>
            </a:pPr>
            <a:r>
              <a:rPr lang="en-ZA" sz="3200" b="1" dirty="0"/>
              <a:t>My Reservations</a:t>
            </a:r>
            <a:r>
              <a:rPr lang="en-ZA" sz="3200" dirty="0"/>
              <a:t> 📋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ZA" sz="3200" dirty="0"/>
              <a:t>Rental history table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ZA" sz="3200" dirty="0"/>
              <a:t>Status filtering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ZA" sz="3200" dirty="0"/>
              <a:t>View details, Cancel, Receipt buttons</a:t>
            </a:r>
          </a:p>
          <a:p>
            <a:endParaRPr lang="en-ZA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D076BEA-23C2-48A6-1B53-5C560B94E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152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24564-6A9E-4D49-7296-637970556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10890928" cy="560566"/>
          </a:xfrm>
        </p:spPr>
        <p:txBody>
          <a:bodyPr>
            <a:normAutofit fontScale="90000"/>
          </a:bodyPr>
          <a:lstStyle/>
          <a:p>
            <a:r>
              <a:rPr lang="en-US" altLang="en-US" sz="2400" dirty="0">
                <a:latin typeface="Arial" panose="020B0604020202020204" pitchFamily="34" charset="0"/>
              </a:rPr>
              <a:t>New Booking</a:t>
            </a:r>
            <a:r>
              <a:rPr lang="en-US" altLang="en-US" sz="2400" b="0" dirty="0">
                <a:latin typeface="Arial" panose="020B0604020202020204" pitchFamily="34" charset="0"/>
              </a:rPr>
              <a:t> 🎫 </a:t>
            </a:r>
            <a:br>
              <a:rPr lang="en-US" altLang="en-US" sz="2400" b="0" dirty="0">
                <a:latin typeface="Arial" panose="020B0604020202020204" pitchFamily="34" charset="0"/>
              </a:rPr>
            </a:br>
            <a:endParaRPr lang="en-ZA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F61C3-CE1E-53CE-F0E3-68AD930B3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99868" y="1975899"/>
            <a:ext cx="5652052" cy="54824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ZA" sz="1100" b="1" dirty="0"/>
              <a:t>Web Application</a:t>
            </a:r>
          </a:p>
          <a:p>
            <a:pPr>
              <a:buNone/>
            </a:pPr>
            <a:r>
              <a:rPr lang="en-ZA" sz="1100" b="1" dirty="0"/>
              <a:t>Layout:</a:t>
            </a:r>
            <a:endParaRPr lang="en-ZA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ZA" sz="1100" dirty="0"/>
              <a:t>Responsive design (mobile-first)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100" dirty="0"/>
              <a:t>Gradient header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100" dirty="0"/>
              <a:t>Horizontal tab navigation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100" dirty="0"/>
              <a:t>Card-based vehicle display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100" dirty="0"/>
              <a:t>Modal popups for receipts</a:t>
            </a:r>
          </a:p>
          <a:p>
            <a:pPr>
              <a:buNone/>
            </a:pPr>
            <a:r>
              <a:rPr lang="en-ZA" sz="1100" b="1" dirty="0" err="1"/>
              <a:t>Color</a:t>
            </a:r>
            <a:r>
              <a:rPr lang="en-ZA" sz="1100" b="1" dirty="0"/>
              <a:t> Scheme:</a:t>
            </a:r>
            <a:endParaRPr lang="en-ZA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ZA" sz="1100" dirty="0"/>
              <a:t>Primary: </a:t>
            </a:r>
            <a:r>
              <a:rPr lang="en-ZA" sz="1100" dirty="0">
                <a:latin typeface="Courier New" panose="02070309020205020404" pitchFamily="49" charset="0"/>
              </a:rPr>
              <a:t>#0066cc</a:t>
            </a:r>
            <a:r>
              <a:rPr lang="en-ZA" sz="1100" dirty="0"/>
              <a:t> (Blue)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100" dirty="0"/>
              <a:t>Accent: </a:t>
            </a:r>
            <a:r>
              <a:rPr lang="en-ZA" sz="1100" dirty="0">
                <a:latin typeface="Courier New" panose="02070309020205020404" pitchFamily="49" charset="0"/>
              </a:rPr>
              <a:t>#ff9a00</a:t>
            </a:r>
            <a:r>
              <a:rPr lang="en-ZA" sz="1100" dirty="0"/>
              <a:t> (Orange)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100" dirty="0"/>
              <a:t>Success: </a:t>
            </a:r>
            <a:r>
              <a:rPr lang="en-ZA" sz="1100" dirty="0">
                <a:latin typeface="Courier New" panose="02070309020205020404" pitchFamily="49" charset="0"/>
              </a:rPr>
              <a:t>#28a745</a:t>
            </a:r>
            <a:r>
              <a:rPr lang="en-ZA" sz="1100" dirty="0"/>
              <a:t> (Green)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100" dirty="0"/>
              <a:t>Danger: </a:t>
            </a:r>
            <a:r>
              <a:rPr lang="en-ZA" sz="1100" dirty="0">
                <a:latin typeface="Courier New" panose="02070309020205020404" pitchFamily="49" charset="0"/>
              </a:rPr>
              <a:t>#dc3545</a:t>
            </a:r>
            <a:r>
              <a:rPr lang="en-ZA" sz="1100" dirty="0"/>
              <a:t> (Red)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100" dirty="0"/>
              <a:t>Background: Gradient purple</a:t>
            </a:r>
          </a:p>
          <a:p>
            <a:pPr>
              <a:buNone/>
            </a:pPr>
            <a:r>
              <a:rPr lang="en-ZA" sz="1100" b="1" dirty="0"/>
              <a:t>Responsive Breakpoints:</a:t>
            </a:r>
            <a:endParaRPr lang="en-ZA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ZA" sz="1100" dirty="0"/>
              <a:t>Desktop: &gt;768px (multi-column grids)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100" dirty="0"/>
              <a:t>Mobile: &lt;768px (single column, stacked)</a:t>
            </a:r>
          </a:p>
          <a:p>
            <a:pPr>
              <a:buNone/>
            </a:pPr>
            <a:r>
              <a:rPr lang="en-ZA" sz="1100" b="1" dirty="0"/>
              <a:t>UI Components:</a:t>
            </a:r>
            <a:endParaRPr lang="en-ZA" sz="1100" dirty="0"/>
          </a:p>
          <a:p>
            <a:endParaRPr lang="en-ZA" sz="11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60A2D14-B92F-1BAF-8D56-A19C286A0ED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40080" y="2631448"/>
            <a:ext cx="2722220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Two-column form layout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Dropdown selectors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Checkboxes for add-ons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preview panel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 buttons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👥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list table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Rental count per customer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customer functionality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📊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2×2 grid of stat cards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numbers with icons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Color-coded categories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193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E55FB-64ED-49B0-2020-D187EAA1B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10890928" cy="479145"/>
          </a:xfrm>
        </p:spPr>
        <p:txBody>
          <a:bodyPr>
            <a:normAutofit fontScale="90000"/>
          </a:bodyPr>
          <a:lstStyle/>
          <a:p>
            <a:r>
              <a:rPr lang="en-GB" sz="2000" dirty="0"/>
              <a:t>UI Components:</a:t>
            </a:r>
            <a:br>
              <a:rPr lang="en-GB" sz="2000" dirty="0"/>
            </a:br>
            <a:endParaRPr lang="en-ZA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799BC-162B-20B2-5721-AFCC1D402D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Gradient buttons with hover effects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Card layouts with shadows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Modern form inputs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Animated transitions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Icon-based navigation</a:t>
            </a:r>
          </a:p>
          <a:p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B15CC-9E54-9F3B-C337-755337991F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ZA" sz="1200" b="1" dirty="0"/>
              <a:t>🚀 Deployment Options</a:t>
            </a:r>
          </a:p>
          <a:p>
            <a:pPr>
              <a:buNone/>
            </a:pPr>
            <a:r>
              <a:rPr lang="en-ZA" sz="1200" b="1" dirty="0"/>
              <a:t>Desktop Application</a:t>
            </a:r>
          </a:p>
          <a:p>
            <a:pPr>
              <a:buNone/>
            </a:pPr>
            <a:r>
              <a:rPr lang="en-ZA" sz="1200" b="1" dirty="0"/>
              <a:t>Option 1: JAR File</a:t>
            </a:r>
            <a:endParaRPr lang="en-ZA" sz="1200" dirty="0"/>
          </a:p>
          <a:p>
            <a:r>
              <a:rPr lang="en-ZA" sz="1200" dirty="0" err="1"/>
              <a:t>javac</a:t>
            </a:r>
            <a:r>
              <a:rPr lang="en-ZA" sz="1200" dirty="0"/>
              <a:t> -cp ".;sqlite-jdbc.jar" ModernVehicleRentalSystem.java</a:t>
            </a:r>
          </a:p>
          <a:p>
            <a:r>
              <a:rPr lang="en-ZA" sz="1200" dirty="0"/>
              <a:t>jar cfm VehicleRentalSystem.jar MANIFEST.MF *.class</a:t>
            </a:r>
          </a:p>
        </p:txBody>
      </p:sp>
    </p:spTree>
    <p:extLst>
      <p:ext uri="{BB962C8B-B14F-4D97-AF65-F5344CB8AC3E}">
        <p14:creationId xmlns:p14="http://schemas.microsoft.com/office/powerpoint/2010/main" val="1598479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060A8-09A1-D9B1-0F58-7A471554E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A1CA9-65FE-07A7-5120-E5B230B50B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ZA" sz="1100" b="1" dirty="0"/>
              <a:t>Distribution:</a:t>
            </a:r>
            <a:r>
              <a:rPr lang="en-ZA" sz="1100" dirty="0"/>
              <a:t> Share JAR + sqlite-jdbc.jar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100" b="1" dirty="0"/>
              <a:t>Requirement:</a:t>
            </a:r>
            <a:r>
              <a:rPr lang="en-ZA" sz="1100" dirty="0"/>
              <a:t> Java Runtime Environment</a:t>
            </a:r>
          </a:p>
          <a:p>
            <a:pPr>
              <a:buNone/>
            </a:pPr>
            <a:r>
              <a:rPr lang="en-ZA" sz="1100" b="1" dirty="0"/>
              <a:t>Option 2: Windows Executable</a:t>
            </a:r>
            <a:endParaRPr lang="en-ZA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ZA" sz="1100" dirty="0"/>
              <a:t>Tool: Launch4j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100" dirty="0"/>
              <a:t>Output: VehicleRentalSystem.exe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100" b="1" dirty="0"/>
              <a:t>Benefit:</a:t>
            </a:r>
            <a:r>
              <a:rPr lang="en-ZA" sz="1100" dirty="0"/>
              <a:t> Native Windows application</a:t>
            </a:r>
          </a:p>
          <a:p>
            <a:pPr>
              <a:buNone/>
            </a:pPr>
            <a:r>
              <a:rPr lang="en-ZA" sz="1100" b="1" dirty="0"/>
              <a:t>Option 3: Installer Package</a:t>
            </a:r>
            <a:endParaRPr lang="en-ZA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ZA" sz="1100" dirty="0"/>
              <a:t>Tool: Inno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100" dirty="0"/>
              <a:t>Output: VehicleRentalSystem-Setup.exe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sz="1100" b="1"/>
              <a:t>Benefit:</a:t>
            </a:r>
            <a:r>
              <a:rPr lang="en-ZA" sz="1100"/>
              <a:t> Professional installation wizard</a:t>
            </a:r>
          </a:p>
          <a:p>
            <a:endParaRPr lang="en-ZA" sz="12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545C0C-3740-DCC2-E4DC-4287B07646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441962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1974</Words>
  <Application>Microsoft Office PowerPoint</Application>
  <PresentationFormat>Widescreen</PresentationFormat>
  <Paragraphs>440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Courier New</vt:lpstr>
      <vt:lpstr>Grandview Display</vt:lpstr>
      <vt:lpstr>var(--font-mono)</vt:lpstr>
      <vt:lpstr>DashVTI</vt:lpstr>
      <vt:lpstr>E A S Y WHEELS RENTALS</vt:lpstr>
      <vt:lpstr>🚘 EasyWheels Rentals  </vt:lpstr>
      <vt:lpstr>🎯 Project Summary</vt:lpstr>
      <vt:lpstr>🔄 System Versions</vt:lpstr>
      <vt:lpstr>🎨 Features &amp; Capabilities </vt:lpstr>
      <vt:lpstr>Booking Features: </vt:lpstr>
      <vt:lpstr>📱 QR Code Integration </vt:lpstr>
      <vt:lpstr>🧾 Receipt System </vt:lpstr>
      <vt:lpstr>🔍 Search &amp; Filter </vt:lpstr>
      <vt:lpstr>🏗️ Technical Architecture Java Desktop Application System Architecture:</vt:lpstr>
      <vt:lpstr>PowerPoint Presentation</vt:lpstr>
      <vt:lpstr>PowerPoint Presentation</vt:lpstr>
      <vt:lpstr>PowerPoint Presentation</vt:lpstr>
      <vt:lpstr>Sample Data: </vt:lpstr>
      <vt:lpstr>New Booking 🎫  </vt:lpstr>
      <vt:lpstr>UI Components: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Beverley Bonisiwe Sithole Sithole</dc:creator>
  <cp:lastModifiedBy>Beverley Bonisiwe Sithole Sithole</cp:lastModifiedBy>
  <cp:revision>2</cp:revision>
  <dcterms:created xsi:type="dcterms:W3CDTF">2025-11-27T20:52:12Z</dcterms:created>
  <dcterms:modified xsi:type="dcterms:W3CDTF">2025-11-28T04:19:56Z</dcterms:modified>
</cp:coreProperties>
</file>